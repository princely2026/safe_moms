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distinguished examiners, lecturers, and colleagues. Welcome to our Level 2 Software Engineering Capstone Project Presentation. Our project is titled 'SafeMoms' — an offline-first maternal healthcare companion application. Over the next 15 minutes, our team will walk you through our complete software engineering lifecycle: from problem elicitation, requirements engineering, architectural design, implementation, and quality assurance.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software engineering endeavor begins with identifying a meaningful problem. In developing nations, particularly Sub-Saharan Africa, maternal mortality remains a major public health challenge. Existing digital solutions make a fatal assumption: constant, cheap internet access. When internet goes down, cloud-dependent apps become useless. SafeMoms was engineered specifically to solve this dichotomy: delivering high-standard digital healthcare completely offline.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SafeMoms is built on four core engineering pillars. First, zero-cloud architecture using embedded SQLite. Second, algorithmic automation based on established clinical rules like Naegele's rule and WHO guidelines. Third, hardware-integrated SOS that leverages satellite GPS and telephony carrier SMS without needing internet. Fourth, a clinical PDF exporter that bridges the patient to formal healthcare providers.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second-year software engineering students, adhering strictly to professional software engineering processes was paramount. We adopted an iterative Agile workflow divided into 5 clear phases. We moved from formal requirements specification in our SRS, to software design in our SDD, modular implementation, automated unit testing, and rigorous evaluation. This ensured team accountability and prevented integration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Software Requirements Specification (SRS) defined both what the system must do, and how well it must do it. The functional requirements cover 6 primary areas: gestational tracking, WHO milestone scheduling, vitals logging, educational guidance, clinical PDF generation, and emergency SOS broadcast. On the non-functional side, 100% offline availability, sub-2-second response latency, and strict local medical data privacy were our top design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SafeMoms follows a classical Layered MVC pattern. The Presentation Layer consists of reactive Flutter widgets. The Controller layer encapsulates all business logic and hardware coordination: GestationalCalculator, EmergencyController, and PdfExporter. The Data Access Layer encapsulates our SQLite engine via the DatabaseHelper singleton. This ensures strict separation of concerns, allowing each component to be unit-tested in complete isolation from the UI.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relational schema implemented in SafeMoms.db using SQLite. Notice how each table serves a dedicated purpose: the users table anchors the baseline dates; the appointments table stores the dynamically generated WHO contacts with an is_completed flag; the symptoms table acts as the patient's continuous electronic health record; and educational_content contains localized health advice pre-seeded on database creation. All queries execute locally via sqflite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GestationalCalculator class encapsulates two vital algorithmic functions. The first is Naegele's rule, the standard worldwide obstetric formula for predicting delivery date. We implemented boundary clamping between Week 1 and Week 40 to prevent edge cases. Second, our schedule generator iterates across the 8 WHO-recommended antenatal care milestones, converting week intervals into exact physical calendar days relative to the mother's LMP and inserting them into SQLite.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emergency obstetric situations, seconds count. Member 5 engineered the EmergencyController to integrate directly with native device hardware. It queries the GPS sensor with a 10-second high-accuracy timeout. Crucially, we designed a resilient fallback: if satellite lock times out, it uses the last known position, and if all fails, it dispatches an emergency notification regardless. The message is sent over carrier SMS waves, requiring zero internet balance.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PdfExporter represents an essential bridge between the mother and clinical staff. Many rural clinics in developing areas lack electronic health record computers. By converting the SQLite database logs into a standardized A4 clinical PDF document directly on the mobile handset, SafeMoms empowers the mother to present an organized, chronological telemetry log to doctors. This aids rapid diagnosis of hypertension and gestational complications, completely offline.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UI/UX engineering for healthcare, clarity and cognitive ease are crucial. Expectant mothers should never be overwhelmed by convoluted menus. We adopted Google's Material 3 design system with a soothing rose-pink theme. Key actions like viewing WHO appointments, logging daily vitals, and exporting doctor reports are accessible directly from the dashboard. The red emergency SOS button is floating and persistent, ensuring it is reachable within a fraction of a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testing is the backbone of engineering integrity. We constructed a comprehensive automated test suite in widget_test.dart. We tested the GestationalCalculator against exact medical benchmarks, verifying Naegele's rule and boundary clamping. We verified our SymptomLog data model serialization, tested PDF compilation buffer generation, and used Flutter's WidgetTester to run headless smoke tests on the onboarding screen. All tests pass with zero regressions.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hallmark of sound software engineering is clear team division of labor and seamless integration. Member 1 led requirements engineering and SRS/SDD specifications. Member 2 formulated the gestational algorithms. Member 3 designed the user interface and reactive screens. Member 4 implemented the SQLite database layer and PDF clinical engine. Member 5 integrated device hardware GPS sensors and telephony SMS broadcasting. We managed our codebase collaboratively via Git.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real software always presents unexpected hurdles. We faced 4 major technical challenges: Android runtime permissions, cross-platform SQLite compatibility across desktop and mobile, GPS timeout delays in remote terrain, and packaging zero-data educational content. In each case, disciplined software engineering principles guided our mitigation strategies, such as implementing timeout fallbacks, pre-seeding relational databases, and utilizing conditional SQLite FFI adapters.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SafeMoms is already a functional, robust system, software engineering is an evolving discipline. Our future development roadmap outlines three exciting expansion trajectories: first, multi-lingual and audio localization for rural populations; second, offline peer-to-peer Bluetooth synchronization with rural clinic tablets; and third, lightweight on-device machine learning models to detect preeclampsia risk patterns entirely offline on the handset.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SafeMoms demonstrates how disciplined Software Engineering principles can directly address pressing humanitarian and healthcare crises. By prioritizing offline resilience, data privacy, and hardware-level fail-safes, we engineered a reliable, life-saving digital companion for expectant mothers. We thank our lecturers and examiners for their guidance, and we now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62895" cy="2011680"/>
          </a:xfrm>
          <a:prstGeom prst="rect">
            <a:avLst/>
          </a:prstGeom>
          <a:noFill/>
        </p:spPr>
        <p:txBody>
          <a:bodyPr wrap="square">
            <a:spAutoFit/>
          </a:bodyPr>
          <a:lstStyle/>
          <a:p>
            <a:pPr>
              <a:spcAft>
                <a:spcPts val="1000"/>
              </a:spcAft>
              <a:defRPr sz="1300" b="1">
                <a:solidFill>
                  <a:srgbClr val="E11D48"/>
                </a:solidFill>
              </a:defRPr>
            </a:pPr>
            <a:r>
              <a:t>INTRODUCTION TO SOFTWARE ENGINEERING — LEVEL 2 EXAM</a:t>
            </a:r>
          </a:p>
          <a:p>
            <a:pPr>
              <a:spcAft>
                <a:spcPts val="800"/>
              </a:spcAft>
              <a:defRPr sz="3200" b="1">
                <a:solidFill>
                  <a:srgbClr val="FFFFFF"/>
                </a:solidFill>
              </a:defRPr>
            </a:pPr>
            <a:r>
              <a:t>SafeMoms: Offline-First Maternal Health Companion</a:t>
            </a:r>
          </a:p>
          <a:p>
            <a:pPr>
              <a:defRPr sz="1600">
                <a:solidFill>
                  <a:srgbClr val="CBD5E1"/>
                </a:solidFill>
              </a:defRPr>
            </a:pPr>
            <a:r>
              <a:t>A Zero-Cloud, High-Reliability Mobile Healthcare Architecture for Resource-Constrained Environments</a:t>
            </a:r>
          </a:p>
        </p:txBody>
      </p:sp>
      <p:sp>
        <p:nvSpPr>
          <p:cNvPr id="5" name="Rounded Rectangle 4"/>
          <p:cNvSpPr/>
          <p:nvPr/>
        </p:nvSpPr>
        <p:spPr>
          <a:xfrm>
            <a:off x="914400" y="3474720"/>
            <a:ext cx="4937760" cy="2560320"/>
          </a:xfrm>
          <a:prstGeom prst="roundRect">
            <a:avLst/>
          </a:prstGeom>
          <a:solidFill>
            <a:srgbClr val="273043"/>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3657600"/>
            <a:ext cx="4480560" cy="2194560"/>
          </a:xfrm>
          <a:prstGeom prst="rect">
            <a:avLst/>
          </a:prstGeom>
          <a:noFill/>
        </p:spPr>
        <p:txBody>
          <a:bodyPr wrap="square">
            <a:spAutoFit/>
          </a:bodyPr>
          <a:lstStyle/>
          <a:p>
            <a:pPr>
              <a:defRPr sz="1100" b="1">
                <a:solidFill>
                  <a:srgbClr val="E11D48"/>
                </a:solidFill>
              </a:defRPr>
            </a:pPr>
            <a:r>
              <a:t>PROJECT METADATA &amp; ACADEMIC DEFENSE</a:t>
            </a:r>
          </a:p>
          <a:p>
            <a:pPr>
              <a:spcBef>
                <a:spcPts val="400"/>
              </a:spcBef>
              <a:defRPr sz="1100">
                <a:solidFill>
                  <a:srgbClr val="E2E8F0"/>
                </a:solidFill>
              </a:defRPr>
            </a:pPr>
            <a:r>
              <a:t>•  Course: Introduction to Software Engineering (Level 2)</a:t>
            </a:r>
          </a:p>
          <a:p>
            <a:pPr>
              <a:spcBef>
                <a:spcPts val="400"/>
              </a:spcBef>
              <a:defRPr sz="1100">
                <a:solidFill>
                  <a:srgbClr val="E2E8F0"/>
                </a:solidFill>
              </a:defRPr>
            </a:pPr>
            <a:r>
              <a:t>•  Project Name: SafeMoms Mobile System</a:t>
            </a:r>
          </a:p>
          <a:p>
            <a:pPr>
              <a:spcBef>
                <a:spcPts val="400"/>
              </a:spcBef>
              <a:defRPr sz="1100">
                <a:solidFill>
                  <a:srgbClr val="E2E8F0"/>
                </a:solidFill>
              </a:defRPr>
            </a:pPr>
            <a:r>
              <a:t>•  Stack: Flutter / Dart + SQLite Engine + Android Telephony / GPS</a:t>
            </a:r>
          </a:p>
          <a:p>
            <a:pPr>
              <a:spcBef>
                <a:spcPts val="400"/>
              </a:spcBef>
              <a:defRPr sz="1100">
                <a:solidFill>
                  <a:srgbClr val="E2E8F0"/>
                </a:solidFill>
              </a:defRPr>
            </a:pPr>
            <a:r>
              <a:t>•  Deliverables: Functional App, SRS, SDD, Automated Test Suite</a:t>
            </a:r>
          </a:p>
          <a:p>
            <a:pPr>
              <a:spcBef>
                <a:spcPts val="400"/>
              </a:spcBef>
              <a:defRPr sz="1100">
                <a:solidFill>
                  <a:srgbClr val="E2E8F0"/>
                </a:solidFill>
              </a:defRPr>
            </a:pPr>
            <a:r>
              <a:t>•  Target Context: Sub-Saharan Africa (Zero-Data Maternal Monitoring)</a:t>
            </a:r>
          </a:p>
        </p:txBody>
      </p:sp>
      <p:sp>
        <p:nvSpPr>
          <p:cNvPr id="7" name="Rounded Rectangle 6"/>
          <p:cNvSpPr/>
          <p:nvPr/>
        </p:nvSpPr>
        <p:spPr>
          <a:xfrm>
            <a:off x="6217920" y="3474720"/>
            <a:ext cx="5029200" cy="2560320"/>
          </a:xfrm>
          <a:prstGeom prst="roundRect">
            <a:avLst/>
          </a:prstGeom>
          <a:solidFill>
            <a:srgbClr val="273043"/>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3657600"/>
            <a:ext cx="4572000" cy="2194560"/>
          </a:xfrm>
          <a:prstGeom prst="rect">
            <a:avLst/>
          </a:prstGeom>
          <a:noFill/>
        </p:spPr>
        <p:txBody>
          <a:bodyPr wrap="square">
            <a:spAutoFit/>
          </a:bodyPr>
          <a:lstStyle/>
          <a:p>
            <a:pPr>
              <a:defRPr sz="1100" b="1">
                <a:solidFill>
                  <a:srgbClr val="6366F1"/>
                </a:solidFill>
              </a:defRPr>
            </a:pPr>
            <a:r>
              <a:t>ENGINEERING TEAM &amp; MODULE ALLOCATION</a:t>
            </a:r>
          </a:p>
          <a:p>
            <a:pPr>
              <a:spcBef>
                <a:spcPts val="400"/>
              </a:spcBef>
              <a:defRPr sz="1100">
                <a:solidFill>
                  <a:srgbClr val="E2E8F0"/>
                </a:solidFill>
              </a:defRPr>
            </a:pPr>
            <a:r>
              <a:t>•  Member 1: Team Lead — Requirements Analysis &amp; SRS/SDD Design</a:t>
            </a:r>
          </a:p>
          <a:p>
            <a:pPr>
              <a:spcBef>
                <a:spcPts val="400"/>
              </a:spcBef>
              <a:defRPr sz="1100">
                <a:solidFill>
                  <a:srgbClr val="E2E8F0"/>
                </a:solidFill>
              </a:defRPr>
            </a:pPr>
            <a:r>
              <a:t>•  Member 2: Gestational Engine — Naegele's Rule &amp; WHO Calculations</a:t>
            </a:r>
          </a:p>
          <a:p>
            <a:pPr>
              <a:spcBef>
                <a:spcPts val="400"/>
              </a:spcBef>
              <a:defRPr sz="1100">
                <a:solidFill>
                  <a:srgbClr val="E2E8F0"/>
                </a:solidFill>
              </a:defRPr>
            </a:pPr>
            <a:r>
              <a:t>•  Member 3: UI/UX &amp; Views — Reactive Material 3 Screens &amp; Navigation</a:t>
            </a:r>
          </a:p>
          <a:p>
            <a:pPr>
              <a:spcBef>
                <a:spcPts val="400"/>
              </a:spcBef>
              <a:defRPr sz="1100">
                <a:solidFill>
                  <a:srgbClr val="E2E8F0"/>
                </a:solidFill>
              </a:defRPr>
            </a:pPr>
            <a:r>
              <a:t>•  Member 4: Database &amp; Clinical Engine — SQLite DAO &amp; PDF Exporter</a:t>
            </a:r>
          </a:p>
          <a:p>
            <a:pPr>
              <a:spcBef>
                <a:spcPts val="400"/>
              </a:spcBef>
              <a:defRPr sz="1100">
                <a:solidFill>
                  <a:srgbClr val="E2E8F0"/>
                </a:solidFill>
              </a:defRPr>
            </a:pPr>
            <a:r>
              <a:t>•  Member 5: Hardware Systems — GPS Hardware Triage &amp; SMS Protocol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BACKGROUND &amp; MOTIVATION</a:t>
            </a:r>
          </a:p>
          <a:p>
            <a:pPr>
              <a:defRPr sz="2200" b="1">
                <a:solidFill>
                  <a:srgbClr val="1A202C"/>
                </a:solidFill>
              </a:defRPr>
            </a:pPr>
            <a:r>
              <a:t>Problem Statement: Maternal Health Under Infrastructure Constraints</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02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918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834640" cy="4480560"/>
          </a:xfrm>
          <a:prstGeom prst="rect">
            <a:avLst/>
          </a:prstGeom>
          <a:noFill/>
        </p:spPr>
        <p:txBody>
          <a:bodyPr wrap="square" lIns="0" tIns="0" rIns="0" bIns="0">
            <a:spAutoFit/>
          </a:bodyPr>
          <a:lstStyle/>
          <a:p>
            <a:pPr>
              <a:defRPr sz="1500" b="1">
                <a:solidFill>
                  <a:srgbClr val="1A202C"/>
                </a:solidFill>
              </a:defRPr>
            </a:pPr>
            <a:r>
              <a:t>1. Healthcare Gap</a:t>
            </a:r>
          </a:p>
          <a:p>
            <a:pPr>
              <a:defRPr sz="900" b="1">
                <a:solidFill>
                  <a:srgbClr val="E11D48"/>
                </a:solidFill>
              </a:defRPr>
            </a:pPr>
            <a:r>
              <a:t>CRITICAL CLINICAL PROBLEM</a:t>
            </a:r>
          </a:p>
          <a:p>
            <a:pPr>
              <a:spcBef>
                <a:spcPts val="600"/>
              </a:spcBef>
              <a:defRPr sz="1200">
                <a:solidFill>
                  <a:srgbClr val="1E293B"/>
                </a:solidFill>
              </a:defRPr>
            </a:pPr>
            <a:r>
              <a:t>•  High Maternal Mortality: Developing regions face disproportionately high complications due to late detection.</a:t>
            </a:r>
          </a:p>
          <a:p>
            <a:pPr>
              <a:spcBef>
                <a:spcPts val="600"/>
              </a:spcBef>
              <a:defRPr sz="1200">
                <a:solidFill>
                  <a:srgbClr val="1E293B"/>
                </a:solidFill>
              </a:defRPr>
            </a:pPr>
            <a:r>
              <a:t>•  Missed Antenatal Care: WHO recommends 8 distinct checkups, but mothers often miss appointments due to lack of reminders.</a:t>
            </a:r>
          </a:p>
          <a:p>
            <a:pPr>
              <a:spcBef>
                <a:spcPts val="600"/>
              </a:spcBef>
              <a:defRPr sz="1200">
                <a:solidFill>
                  <a:srgbClr val="1E293B"/>
                </a:solidFill>
              </a:defRPr>
            </a:pPr>
            <a:r>
              <a:t>•  Paper Record Fragility: Paper antenatal booklets are easily lost, damaged, or unavailable during hospital emergencies.</a:t>
            </a:r>
          </a:p>
        </p:txBody>
      </p:sp>
      <p:sp>
        <p:nvSpPr>
          <p:cNvPr id="7" name="Rounded Rectangle 6"/>
          <p:cNvSpPr/>
          <p:nvPr/>
        </p:nvSpPr>
        <p:spPr>
          <a:xfrm>
            <a:off x="4389120" y="1463040"/>
            <a:ext cx="32918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45920"/>
            <a:ext cx="2834640" cy="4480560"/>
          </a:xfrm>
          <a:prstGeom prst="rect">
            <a:avLst/>
          </a:prstGeom>
          <a:noFill/>
        </p:spPr>
        <p:txBody>
          <a:bodyPr wrap="square" lIns="0" tIns="0" rIns="0" bIns="0">
            <a:spAutoFit/>
          </a:bodyPr>
          <a:lstStyle/>
          <a:p>
            <a:pPr>
              <a:defRPr sz="1500" b="1">
                <a:solidFill>
                  <a:srgbClr val="1A202C"/>
                </a:solidFill>
              </a:defRPr>
            </a:pPr>
            <a:r>
              <a:t>2. Digital Constraints</a:t>
            </a:r>
          </a:p>
          <a:p>
            <a:pPr>
              <a:defRPr sz="900" b="1">
                <a:solidFill>
                  <a:srgbClr val="E11D48"/>
                </a:solidFill>
              </a:defRPr>
            </a:pPr>
            <a:r>
              <a:t>INFRASTRUCTURE BARRIERS</a:t>
            </a:r>
          </a:p>
          <a:p>
            <a:pPr>
              <a:spcBef>
                <a:spcPts val="600"/>
              </a:spcBef>
              <a:defRPr sz="1200">
                <a:solidFill>
                  <a:srgbClr val="1E293B"/>
                </a:solidFill>
              </a:defRPr>
            </a:pPr>
            <a:r>
              <a:t>•  High Mobile Data Costs: Continuous cellular data bundles are unaffordable for low-income rural households.</a:t>
            </a:r>
          </a:p>
          <a:p>
            <a:pPr>
              <a:spcBef>
                <a:spcPts val="600"/>
              </a:spcBef>
              <a:defRPr sz="1200">
                <a:solidFill>
                  <a:srgbClr val="1E293B"/>
                </a:solidFill>
              </a:defRPr>
            </a:pPr>
            <a:r>
              <a:t>•  Fluctuating Network Coverage: 2G/3G/4G connectivity is intermittent or non-existent in remote villages.</a:t>
            </a:r>
          </a:p>
          <a:p>
            <a:pPr>
              <a:spcBef>
                <a:spcPts val="600"/>
              </a:spcBef>
              <a:defRPr sz="1200">
                <a:solidFill>
                  <a:srgbClr val="1E293B"/>
                </a:solidFill>
              </a:defRPr>
            </a:pPr>
            <a:r>
              <a:t>•  Cloud Dependency Failure: Conventional health apps lock user data behind online servers, failing when connectivity drops.</a:t>
            </a:r>
          </a:p>
        </p:txBody>
      </p:sp>
      <p:sp>
        <p:nvSpPr>
          <p:cNvPr id="9" name="Rounded Rectangle 8"/>
          <p:cNvSpPr/>
          <p:nvPr/>
        </p:nvSpPr>
        <p:spPr>
          <a:xfrm>
            <a:off x="8046720" y="1463040"/>
            <a:ext cx="33832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45920"/>
            <a:ext cx="2926080" cy="4480560"/>
          </a:xfrm>
          <a:prstGeom prst="rect">
            <a:avLst/>
          </a:prstGeom>
          <a:noFill/>
        </p:spPr>
        <p:txBody>
          <a:bodyPr wrap="square" lIns="0" tIns="0" rIns="0" bIns="0">
            <a:spAutoFit/>
          </a:bodyPr>
          <a:lstStyle/>
          <a:p>
            <a:pPr>
              <a:defRPr sz="1500" b="1">
                <a:solidFill>
                  <a:srgbClr val="1A202C"/>
                </a:solidFill>
              </a:defRPr>
            </a:pPr>
            <a:r>
              <a:t>3. Emergency Triage Void</a:t>
            </a:r>
          </a:p>
          <a:p>
            <a:pPr>
              <a:defRPr sz="900" b="1">
                <a:solidFill>
                  <a:srgbClr val="E11D48"/>
                </a:solidFill>
              </a:defRPr>
            </a:pPr>
            <a:r>
              <a:t>LIFE-CRITICAL NEED</a:t>
            </a:r>
          </a:p>
          <a:p>
            <a:pPr>
              <a:spcBef>
                <a:spcPts val="600"/>
              </a:spcBef>
              <a:defRPr sz="1200">
                <a:solidFill>
                  <a:srgbClr val="1E293B"/>
                </a:solidFill>
              </a:defRPr>
            </a:pPr>
            <a:r>
              <a:t>•  Delayed Obstetric Emergencies: Eclampsia, hemorrhage, and preterm labor require immediate next-of-kin notification.</a:t>
            </a:r>
          </a:p>
          <a:p>
            <a:pPr>
              <a:spcBef>
                <a:spcPts val="600"/>
              </a:spcBef>
              <a:defRPr sz="1200">
                <a:solidFill>
                  <a:srgbClr val="1E293B"/>
                </a:solidFill>
              </a:defRPr>
            </a:pPr>
            <a:r>
              <a:t>•  Location Ambiguity: In urgent moments, panicked patients struggle to describe their physical location.</a:t>
            </a:r>
          </a:p>
          <a:p>
            <a:pPr>
              <a:spcBef>
                <a:spcPts val="600"/>
              </a:spcBef>
              <a:defRPr sz="1200">
                <a:solidFill>
                  <a:srgbClr val="1E293B"/>
                </a:solidFill>
              </a:defRPr>
            </a:pPr>
            <a:r>
              <a:t>•  No Coordinated Dispatch: Lack of an automated 1-touch hardware SOS mechanism capable of operating without mobile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PROJECT VISION &amp; OBJECTIVES</a:t>
            </a:r>
          </a:p>
          <a:p>
            <a:pPr>
              <a:defRPr sz="2200" b="1">
                <a:solidFill>
                  <a:srgbClr val="1A202C"/>
                </a:solidFill>
              </a:defRPr>
            </a:pPr>
            <a:r>
              <a:t>The SafeMoms Solution: 100% Offline-First Architecture</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03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2286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1920240"/>
          </a:xfrm>
          <a:prstGeom prst="rect">
            <a:avLst/>
          </a:prstGeom>
          <a:noFill/>
        </p:spPr>
        <p:txBody>
          <a:bodyPr wrap="square" lIns="0" tIns="0" rIns="0" bIns="0">
            <a:spAutoFit/>
          </a:bodyPr>
          <a:lstStyle/>
          <a:p>
            <a:pPr>
              <a:defRPr sz="1500" b="1">
                <a:solidFill>
                  <a:srgbClr val="1A202C"/>
                </a:solidFill>
              </a:defRPr>
            </a:pPr>
            <a:r>
              <a:t>Zero-Cloud Standalone Persistence</a:t>
            </a:r>
          </a:p>
          <a:p>
            <a:pPr>
              <a:defRPr sz="900" b="1">
                <a:solidFill>
                  <a:srgbClr val="E11D48"/>
                </a:solidFill>
              </a:defRPr>
            </a:pPr>
            <a:r>
              <a:t>PILLAR 1: DATA SOVEREIGNTY</a:t>
            </a:r>
          </a:p>
          <a:p>
            <a:pPr>
              <a:spcBef>
                <a:spcPts val="600"/>
              </a:spcBef>
              <a:defRPr sz="1200">
                <a:solidFill>
                  <a:srgbClr val="1E293B"/>
                </a:solidFill>
              </a:defRPr>
            </a:pPr>
            <a:r>
              <a:t>•  100% Client-Side SQLite Database: All profiles, vitals, and schedules reside locally on handset storage.</a:t>
            </a:r>
          </a:p>
          <a:p>
            <a:pPr>
              <a:spcBef>
                <a:spcPts val="600"/>
              </a:spcBef>
              <a:defRPr sz="1200">
                <a:solidFill>
                  <a:srgbClr val="1E293B"/>
                </a:solidFill>
              </a:defRPr>
            </a:pPr>
            <a:r>
              <a:t>•  Zero External API Latency: Instant UI render times with zero network bandwidth consumption.</a:t>
            </a:r>
          </a:p>
          <a:p>
            <a:pPr>
              <a:spcBef>
                <a:spcPts val="600"/>
              </a:spcBef>
              <a:defRPr sz="1200">
                <a:solidFill>
                  <a:srgbClr val="1E293B"/>
                </a:solidFill>
              </a:defRPr>
            </a:pPr>
            <a:r>
              <a:t>•  Absolute Patient Privacy: Medical telemetry never leaves the device without explicit user consent.</a:t>
            </a:r>
          </a:p>
        </p:txBody>
      </p:sp>
      <p:sp>
        <p:nvSpPr>
          <p:cNvPr id="7" name="Rounded Rectangle 6"/>
          <p:cNvSpPr/>
          <p:nvPr/>
        </p:nvSpPr>
        <p:spPr>
          <a:xfrm>
            <a:off x="6309360" y="1463040"/>
            <a:ext cx="5120640" cy="2286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645920"/>
            <a:ext cx="4663440" cy="1920240"/>
          </a:xfrm>
          <a:prstGeom prst="rect">
            <a:avLst/>
          </a:prstGeom>
          <a:noFill/>
        </p:spPr>
        <p:txBody>
          <a:bodyPr wrap="square" lIns="0" tIns="0" rIns="0" bIns="0">
            <a:spAutoFit/>
          </a:bodyPr>
          <a:lstStyle/>
          <a:p>
            <a:pPr>
              <a:defRPr sz="1500" b="1">
                <a:solidFill>
                  <a:srgbClr val="1A202C"/>
                </a:solidFill>
              </a:defRPr>
            </a:pPr>
            <a:r>
              <a:t>Algorithmic Medical Automation</a:t>
            </a:r>
          </a:p>
          <a:p>
            <a:pPr>
              <a:defRPr sz="900" b="1">
                <a:solidFill>
                  <a:srgbClr val="E11D48"/>
                </a:solidFill>
              </a:defRPr>
            </a:pPr>
            <a:r>
              <a:t>PILLAR 2: CLINICAL PRECISION</a:t>
            </a:r>
          </a:p>
          <a:p>
            <a:pPr>
              <a:spcBef>
                <a:spcPts val="600"/>
              </a:spcBef>
              <a:defRPr sz="1200">
                <a:solidFill>
                  <a:srgbClr val="1E293B"/>
                </a:solidFill>
              </a:defRPr>
            </a:pPr>
            <a:r>
              <a:t>•  Naegele's Rule Engine: Mathematically computes delivery date and gestational progress from LMP.</a:t>
            </a:r>
          </a:p>
          <a:p>
            <a:pPr>
              <a:spcBef>
                <a:spcPts val="600"/>
              </a:spcBef>
              <a:defRPr sz="1200">
                <a:solidFill>
                  <a:srgbClr val="1E293B"/>
                </a:solidFill>
              </a:defRPr>
            </a:pPr>
            <a:r>
              <a:t>•  WHO 8-Milestone Scheduler: Generates clinic checkups spanning Week 12 to Week 40.</a:t>
            </a:r>
          </a:p>
          <a:p>
            <a:pPr>
              <a:spcBef>
                <a:spcPts val="600"/>
              </a:spcBef>
              <a:defRPr sz="1200">
                <a:solidFill>
                  <a:srgbClr val="1E293B"/>
                </a:solidFill>
              </a:defRPr>
            </a:pPr>
            <a:r>
              <a:t>•  Localized Educational Matrix: Embedded, week-specific nutritional and obstetric health tips.</a:t>
            </a:r>
          </a:p>
        </p:txBody>
      </p:sp>
      <p:sp>
        <p:nvSpPr>
          <p:cNvPr id="9" name="Rounded Rectangle 8"/>
          <p:cNvSpPr/>
          <p:nvPr/>
        </p:nvSpPr>
        <p:spPr>
          <a:xfrm>
            <a:off x="731520" y="4023360"/>
            <a:ext cx="5120640" cy="2286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06240"/>
            <a:ext cx="4663440" cy="1920240"/>
          </a:xfrm>
          <a:prstGeom prst="rect">
            <a:avLst/>
          </a:prstGeom>
          <a:noFill/>
        </p:spPr>
        <p:txBody>
          <a:bodyPr wrap="square" lIns="0" tIns="0" rIns="0" bIns="0">
            <a:spAutoFit/>
          </a:bodyPr>
          <a:lstStyle/>
          <a:p>
            <a:pPr>
              <a:defRPr sz="1500" b="1">
                <a:solidFill>
                  <a:srgbClr val="1A202C"/>
                </a:solidFill>
              </a:defRPr>
            </a:pPr>
            <a:r>
              <a:t>Hardware-Integrated SOS Protocol</a:t>
            </a:r>
          </a:p>
          <a:p>
            <a:pPr>
              <a:defRPr sz="900" b="1">
                <a:solidFill>
                  <a:srgbClr val="E11D48"/>
                </a:solidFill>
              </a:defRPr>
            </a:pPr>
            <a:r>
              <a:t>PILLAR 3: EMERGENCY RELIABILITY</a:t>
            </a:r>
          </a:p>
          <a:p>
            <a:pPr>
              <a:spcBef>
                <a:spcPts val="600"/>
              </a:spcBef>
              <a:defRPr sz="1200">
                <a:solidFill>
                  <a:srgbClr val="1E293B"/>
                </a:solidFill>
              </a:defRPr>
            </a:pPr>
            <a:r>
              <a:t>•  Direct Hardware GPS Lock: Queries satellite coordinates via device sensor with 10s fallback.</a:t>
            </a:r>
          </a:p>
          <a:p>
            <a:pPr>
              <a:spcBef>
                <a:spcPts val="600"/>
              </a:spcBef>
              <a:defRPr sz="1200">
                <a:solidFill>
                  <a:srgbClr val="1E293B"/>
                </a:solidFill>
              </a:defRPr>
            </a:pPr>
            <a:r>
              <a:t>•  Telephony Carrier Wave SMS: Dispatches Google Maps coordinates directly over cellular voice/SMS towers.</a:t>
            </a:r>
          </a:p>
          <a:p>
            <a:pPr>
              <a:spcBef>
                <a:spcPts val="600"/>
              </a:spcBef>
              <a:defRPr sz="1200">
                <a:solidFill>
                  <a:srgbClr val="1E293B"/>
                </a:solidFill>
              </a:defRPr>
            </a:pPr>
            <a:r>
              <a:t>•  Zero Internet Requirement: Operates on airwaves even when data packages are completely exhausted.</a:t>
            </a:r>
          </a:p>
        </p:txBody>
      </p:sp>
      <p:sp>
        <p:nvSpPr>
          <p:cNvPr id="11" name="Rounded Rectangle 10"/>
          <p:cNvSpPr/>
          <p:nvPr/>
        </p:nvSpPr>
        <p:spPr>
          <a:xfrm>
            <a:off x="6309360" y="4023360"/>
            <a:ext cx="5120640" cy="2286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4206240"/>
            <a:ext cx="4663440" cy="1920240"/>
          </a:xfrm>
          <a:prstGeom prst="rect">
            <a:avLst/>
          </a:prstGeom>
          <a:noFill/>
        </p:spPr>
        <p:txBody>
          <a:bodyPr wrap="square" lIns="0" tIns="0" rIns="0" bIns="0">
            <a:spAutoFit/>
          </a:bodyPr>
          <a:lstStyle/>
          <a:p>
            <a:pPr>
              <a:defRPr sz="1500" b="1">
                <a:solidFill>
                  <a:srgbClr val="1A202C"/>
                </a:solidFill>
              </a:defRPr>
            </a:pPr>
            <a:r>
              <a:t>Offline Clinical PDF Exporter</a:t>
            </a:r>
          </a:p>
          <a:p>
            <a:pPr>
              <a:defRPr sz="900" b="1">
                <a:solidFill>
                  <a:srgbClr val="E11D48"/>
                </a:solidFill>
              </a:defRPr>
            </a:pPr>
            <a:r>
              <a:t>PILLAR 4: HEALTHCARE CONTINUITY</a:t>
            </a:r>
          </a:p>
          <a:p>
            <a:pPr>
              <a:spcBef>
                <a:spcPts val="600"/>
              </a:spcBef>
              <a:defRPr sz="1200">
                <a:solidFill>
                  <a:srgbClr val="1E293B"/>
                </a:solidFill>
              </a:defRPr>
            </a:pPr>
            <a:r>
              <a:t>•  Instant A4 Document Compilation: Converts SQLite vitals history into structured medical reports.</a:t>
            </a:r>
          </a:p>
          <a:p>
            <a:pPr>
              <a:spcBef>
                <a:spcPts val="600"/>
              </a:spcBef>
              <a:defRPr sz="1200">
                <a:solidFill>
                  <a:srgbClr val="1E293B"/>
                </a:solidFill>
              </a:defRPr>
            </a:pPr>
            <a:r>
              <a:t>•  Doctor-Patient Bridge: Allows rural clinics without computers to read verified patient logs.</a:t>
            </a:r>
          </a:p>
          <a:p>
            <a:pPr>
              <a:spcBef>
                <a:spcPts val="600"/>
              </a:spcBef>
              <a:defRPr sz="1200">
                <a:solidFill>
                  <a:srgbClr val="1E293B"/>
                </a:solidFill>
              </a:defRPr>
            </a:pPr>
            <a:r>
              <a:t>•  Native OS Print &amp; Share: Integrates directly with Android/iOS/Desktop share dialogues.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PROCESS METHODOLOGY</a:t>
            </a:r>
          </a:p>
          <a:p>
            <a:pPr>
              <a:defRPr sz="2200" b="1">
                <a:solidFill>
                  <a:srgbClr val="1A202C"/>
                </a:solidFill>
              </a:defRPr>
            </a:pPr>
            <a:r>
              <a:t>Software Development Life Cycle: Agile &amp; Iterative Model</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04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2011680" cy="484632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737360" cy="4480560"/>
          </a:xfrm>
          <a:prstGeom prst="rect">
            <a:avLst/>
          </a:prstGeom>
          <a:noFill/>
        </p:spPr>
        <p:txBody>
          <a:bodyPr wrap="square" lIns="0" tIns="0" rIns="0" bIns="0">
            <a:spAutoFit/>
          </a:bodyPr>
          <a:lstStyle/>
          <a:p>
            <a:pPr>
              <a:defRPr sz="1100" b="1">
                <a:solidFill>
                  <a:srgbClr val="E11D48"/>
                </a:solidFill>
              </a:defRPr>
            </a:pPr>
            <a:r>
              <a:t>STEP 1</a:t>
            </a:r>
          </a:p>
          <a:p>
            <a:pPr>
              <a:spcBef>
                <a:spcPts val="400"/>
              </a:spcBef>
              <a:spcAft>
                <a:spcPts val="1000"/>
              </a:spcAft>
              <a:defRPr sz="1300" b="1">
                <a:solidFill>
                  <a:srgbClr val="1A202C"/>
                </a:solidFill>
              </a:defRPr>
            </a:pPr>
            <a:r>
              <a:t>Phase 1: Requirements</a:t>
            </a:r>
          </a:p>
          <a:p>
            <a:pPr>
              <a:defRPr sz="1100">
                <a:solidFill>
                  <a:srgbClr val="1E293B"/>
                </a:solidFill>
              </a:defRPr>
            </a:pPr>
            <a:r>
              <a:t>Elicited stakeholder needs (mothers, midwives, doctors). Formulated functional &amp; non-functional requirements in IEEE 830 compliant SRS.</a:t>
            </a:r>
          </a:p>
        </p:txBody>
      </p:sp>
      <p:sp>
        <p:nvSpPr>
          <p:cNvPr id="7" name="Rounded Rectangle 6"/>
          <p:cNvSpPr/>
          <p:nvPr/>
        </p:nvSpPr>
        <p:spPr>
          <a:xfrm>
            <a:off x="2907792" y="1463040"/>
            <a:ext cx="2011680" cy="4846320"/>
          </a:xfrm>
          <a:prstGeom prst="roundRect">
            <a:avLst/>
          </a:prstGeom>
          <a:solidFill>
            <a:srgbClr val="F8FAF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44952" y="1645920"/>
            <a:ext cx="1737360" cy="4480560"/>
          </a:xfrm>
          <a:prstGeom prst="rect">
            <a:avLst/>
          </a:prstGeom>
          <a:noFill/>
        </p:spPr>
        <p:txBody>
          <a:bodyPr wrap="square" lIns="0" tIns="0" rIns="0" bIns="0">
            <a:spAutoFit/>
          </a:bodyPr>
          <a:lstStyle/>
          <a:p>
            <a:pPr>
              <a:defRPr sz="1100" b="1">
                <a:solidFill>
                  <a:srgbClr val="6366F1"/>
                </a:solidFill>
              </a:defRPr>
            </a:pPr>
            <a:r>
              <a:t>STEP 2</a:t>
            </a:r>
          </a:p>
          <a:p>
            <a:pPr>
              <a:spcBef>
                <a:spcPts val="400"/>
              </a:spcBef>
              <a:spcAft>
                <a:spcPts val="1000"/>
              </a:spcAft>
              <a:defRPr sz="1300" b="1">
                <a:solidFill>
                  <a:srgbClr val="1A202C"/>
                </a:solidFill>
              </a:defRPr>
            </a:pPr>
            <a:r>
              <a:t>Phase 2: Architectural Design</a:t>
            </a:r>
          </a:p>
          <a:p>
            <a:pPr>
              <a:defRPr sz="1100">
                <a:solidFill>
                  <a:srgbClr val="1E293B"/>
                </a:solidFill>
              </a:defRPr>
            </a:pPr>
            <a:r>
              <a:t>Produced Software Design Document (SDD). Modeled MVC architecture, database relational schema, and component interface contracts.</a:t>
            </a:r>
          </a:p>
        </p:txBody>
      </p:sp>
      <p:sp>
        <p:nvSpPr>
          <p:cNvPr id="9" name="Rounded Rectangle 8"/>
          <p:cNvSpPr/>
          <p:nvPr/>
        </p:nvSpPr>
        <p:spPr>
          <a:xfrm>
            <a:off x="5084064" y="1463040"/>
            <a:ext cx="2011680" cy="484632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1224" y="1645920"/>
            <a:ext cx="1737360" cy="4480560"/>
          </a:xfrm>
          <a:prstGeom prst="rect">
            <a:avLst/>
          </a:prstGeom>
          <a:noFill/>
        </p:spPr>
        <p:txBody>
          <a:bodyPr wrap="square" lIns="0" tIns="0" rIns="0" bIns="0">
            <a:spAutoFit/>
          </a:bodyPr>
          <a:lstStyle/>
          <a:p>
            <a:pPr>
              <a:defRPr sz="1100" b="1">
                <a:solidFill>
                  <a:srgbClr val="0D9488"/>
                </a:solidFill>
              </a:defRPr>
            </a:pPr>
            <a:r>
              <a:t>STEP 3</a:t>
            </a:r>
          </a:p>
          <a:p>
            <a:pPr>
              <a:spcBef>
                <a:spcPts val="400"/>
              </a:spcBef>
              <a:spcAft>
                <a:spcPts val="1000"/>
              </a:spcAft>
              <a:defRPr sz="1300" b="1">
                <a:solidFill>
                  <a:srgbClr val="1A202C"/>
                </a:solidFill>
              </a:defRPr>
            </a:pPr>
            <a:r>
              <a:t>Phase 3: Sprints &amp; Implementation</a:t>
            </a:r>
          </a:p>
          <a:p>
            <a:pPr>
              <a:defRPr sz="1100">
                <a:solidFill>
                  <a:srgbClr val="1E293B"/>
                </a:solidFill>
              </a:defRPr>
            </a:pPr>
            <a:r>
              <a:t>Divided codebase into modular subsystems: Gestational Engine, SQLite DAO, Material 3 UI, Hardware GPS, and PDF generation.</a:t>
            </a:r>
          </a:p>
        </p:txBody>
      </p:sp>
      <p:sp>
        <p:nvSpPr>
          <p:cNvPr id="11" name="Rounded Rectangle 10"/>
          <p:cNvSpPr/>
          <p:nvPr/>
        </p:nvSpPr>
        <p:spPr>
          <a:xfrm>
            <a:off x="7260336" y="1463040"/>
            <a:ext cx="2011680" cy="4846320"/>
          </a:xfrm>
          <a:prstGeom prst="roundRect">
            <a:avLst/>
          </a:prstGeom>
          <a:solidFill>
            <a:srgbClr val="F8FAF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7496" y="1645920"/>
            <a:ext cx="1737360" cy="4480560"/>
          </a:xfrm>
          <a:prstGeom prst="rect">
            <a:avLst/>
          </a:prstGeom>
          <a:noFill/>
        </p:spPr>
        <p:txBody>
          <a:bodyPr wrap="square" lIns="0" tIns="0" rIns="0" bIns="0">
            <a:spAutoFit/>
          </a:bodyPr>
          <a:lstStyle/>
          <a:p>
            <a:pPr>
              <a:defRPr sz="1100" b="1">
                <a:solidFill>
                  <a:srgbClr val="F59E0B"/>
                </a:solidFill>
              </a:defRPr>
            </a:pPr>
            <a:r>
              <a:t>STEP 4</a:t>
            </a:r>
          </a:p>
          <a:p>
            <a:pPr>
              <a:spcBef>
                <a:spcPts val="400"/>
              </a:spcBef>
              <a:spcAft>
                <a:spcPts val="1000"/>
              </a:spcAft>
              <a:defRPr sz="1300" b="1">
                <a:solidFill>
                  <a:srgbClr val="1A202C"/>
                </a:solidFill>
              </a:defRPr>
            </a:pPr>
            <a:r>
              <a:t>Phase 4: Testing &amp; V&amp;V</a:t>
            </a:r>
          </a:p>
          <a:p>
            <a:pPr>
              <a:defRPr sz="1100">
                <a:solidFill>
                  <a:srgbClr val="1E293B"/>
                </a:solidFill>
              </a:defRPr>
            </a:pPr>
            <a:r>
              <a:t>Executed automated unit test suites for date math, boundary conditions, database persistence, and widget smoke tests.</a:t>
            </a:r>
          </a:p>
        </p:txBody>
      </p:sp>
      <p:sp>
        <p:nvSpPr>
          <p:cNvPr id="13" name="Rounded Rectangle 12"/>
          <p:cNvSpPr/>
          <p:nvPr/>
        </p:nvSpPr>
        <p:spPr>
          <a:xfrm>
            <a:off x="9436608" y="1463040"/>
            <a:ext cx="2011680" cy="484632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73768" y="1645920"/>
            <a:ext cx="1737360" cy="4480560"/>
          </a:xfrm>
          <a:prstGeom prst="rect">
            <a:avLst/>
          </a:prstGeom>
          <a:noFill/>
        </p:spPr>
        <p:txBody>
          <a:bodyPr wrap="square" lIns="0" tIns="0" rIns="0" bIns="0">
            <a:spAutoFit/>
          </a:bodyPr>
          <a:lstStyle/>
          <a:p>
            <a:pPr>
              <a:defRPr sz="1100" b="1">
                <a:solidFill>
                  <a:srgbClr val="10B981"/>
                </a:solidFill>
              </a:defRPr>
            </a:pPr>
            <a:r>
              <a:t>STEP 5</a:t>
            </a:r>
          </a:p>
          <a:p>
            <a:pPr>
              <a:spcBef>
                <a:spcPts val="400"/>
              </a:spcBef>
              <a:spcAft>
                <a:spcPts val="1000"/>
              </a:spcAft>
              <a:defRPr sz="1300" b="1">
                <a:solidFill>
                  <a:srgbClr val="1A202C"/>
                </a:solidFill>
              </a:defRPr>
            </a:pPr>
            <a:r>
              <a:t>Phase 5: Evaluation &amp; Packaging</a:t>
            </a:r>
          </a:p>
          <a:p>
            <a:pPr>
              <a:defRPr sz="1100">
                <a:solidFill>
                  <a:srgbClr val="1E293B"/>
                </a:solidFill>
              </a:defRPr>
            </a:pPr>
            <a:r>
              <a:t>Benchmarked startup latency, tested on emulators and real hardware, validated offline resilience and zero-data constraints.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SRS ANALYSIS</a:t>
            </a:r>
          </a:p>
          <a:p>
            <a:pPr>
              <a:defRPr sz="2200" b="1">
                <a:solidFill>
                  <a:srgbClr val="1A202C"/>
                </a:solidFill>
              </a:defRPr>
            </a:pPr>
            <a:r>
              <a:t>Requirements Engineering: Functional &amp; Non-Functional Specifications</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05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4480560"/>
          </a:xfrm>
          <a:prstGeom prst="rect">
            <a:avLst/>
          </a:prstGeom>
          <a:noFill/>
        </p:spPr>
        <p:txBody>
          <a:bodyPr wrap="square" lIns="0" tIns="0" rIns="0" bIns="0">
            <a:spAutoFit/>
          </a:bodyPr>
          <a:lstStyle/>
          <a:p>
            <a:pPr>
              <a:defRPr sz="1500" b="1">
                <a:solidFill>
                  <a:srgbClr val="1A202C"/>
                </a:solidFill>
              </a:defRPr>
            </a:pPr>
            <a:r>
              <a:t>Functional Requirements (FR)</a:t>
            </a:r>
          </a:p>
          <a:p>
            <a:pPr>
              <a:defRPr sz="900" b="1">
                <a:solidFill>
                  <a:srgbClr val="E11D48"/>
                </a:solidFill>
              </a:defRPr>
            </a:pPr>
            <a:r>
              <a:t>SYSTEM CAPABILITIES</a:t>
            </a:r>
          </a:p>
          <a:p>
            <a:pPr>
              <a:spcBef>
                <a:spcPts val="600"/>
              </a:spcBef>
              <a:defRPr sz="1200">
                <a:solidFill>
                  <a:srgbClr val="1E293B"/>
                </a:solidFill>
              </a:defRPr>
            </a:pPr>
            <a:r>
              <a:t>•  FR1 - Gestational Tracking: Compute EDD and gestational week dynamically using the mother's Last Menstrual Period (LMP).</a:t>
            </a:r>
          </a:p>
          <a:p>
            <a:pPr>
              <a:spcBef>
                <a:spcPts val="600"/>
              </a:spcBef>
              <a:defRPr sz="1200">
                <a:solidFill>
                  <a:srgbClr val="1E293B"/>
                </a:solidFill>
              </a:defRPr>
            </a:pPr>
            <a:r>
              <a:t>•  FR2 - WHO Milestone Generation: Automatically populate 8 clinical antenatal checkups with exact calendar dates.</a:t>
            </a:r>
          </a:p>
          <a:p>
            <a:pPr>
              <a:spcBef>
                <a:spcPts val="600"/>
              </a:spcBef>
              <a:defRPr sz="1200">
                <a:solidFill>
                  <a:srgbClr val="1E293B"/>
                </a:solidFill>
              </a:defRPr>
            </a:pPr>
            <a:r>
              <a:t>•  FR3 - Daily Telemetry Logging: Record daily maternal metrics (weight in kg, systolic &amp; diastolic BP in mmHg, clinical notes).</a:t>
            </a:r>
          </a:p>
          <a:p>
            <a:pPr>
              <a:spcBef>
                <a:spcPts val="600"/>
              </a:spcBef>
              <a:defRPr sz="1200">
                <a:solidFill>
                  <a:srgbClr val="1E293B"/>
                </a:solidFill>
              </a:defRPr>
            </a:pPr>
            <a:r>
              <a:t>•  FR4 - Localized Educational Engine: Seed offline SQLite database with trimester-specific nutrition and danger-sign articles.</a:t>
            </a:r>
          </a:p>
          <a:p>
            <a:pPr>
              <a:spcBef>
                <a:spcPts val="600"/>
              </a:spcBef>
              <a:defRPr sz="1200">
                <a:solidFill>
                  <a:srgbClr val="1E293B"/>
                </a:solidFill>
              </a:defRPr>
            </a:pPr>
            <a:r>
              <a:t>•  FR5 - PDF Clinical Export: Compile historical vitals into formatted, doctor-ready A4 PDF documents.</a:t>
            </a:r>
          </a:p>
          <a:p>
            <a:pPr>
              <a:spcBef>
                <a:spcPts val="600"/>
              </a:spcBef>
              <a:defRPr sz="1200">
                <a:solidFill>
                  <a:srgbClr val="1E293B"/>
                </a:solidFill>
              </a:defRPr>
            </a:pPr>
            <a:r>
              <a:t>•  FR6 - Hardware SOS Broadcast: Query device GPS and dispatch emergency SMS containing Google Maps coordinates to next-of-kin.</a:t>
            </a:r>
          </a:p>
        </p:txBody>
      </p:sp>
      <p:sp>
        <p:nvSpPr>
          <p:cNvPr id="7" name="Rounded Rectangle 6"/>
          <p:cNvSpPr/>
          <p:nvPr/>
        </p:nvSpPr>
        <p:spPr>
          <a:xfrm>
            <a:off x="630936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645920"/>
            <a:ext cx="4663440" cy="4480560"/>
          </a:xfrm>
          <a:prstGeom prst="rect">
            <a:avLst/>
          </a:prstGeom>
          <a:noFill/>
        </p:spPr>
        <p:txBody>
          <a:bodyPr wrap="square" lIns="0" tIns="0" rIns="0" bIns="0">
            <a:spAutoFit/>
          </a:bodyPr>
          <a:lstStyle/>
          <a:p>
            <a:pPr>
              <a:defRPr sz="1500" b="1">
                <a:solidFill>
                  <a:srgbClr val="1A202C"/>
                </a:solidFill>
              </a:defRPr>
            </a:pPr>
            <a:r>
              <a:t>Non-Functional Requirements (NFR)</a:t>
            </a:r>
          </a:p>
          <a:p>
            <a:pPr>
              <a:defRPr sz="900" b="1">
                <a:solidFill>
                  <a:srgbClr val="E11D48"/>
                </a:solidFill>
              </a:defRPr>
            </a:pPr>
            <a:r>
              <a:t>QUALITY ATTRIBUTES &amp; CONSTRAINTS</a:t>
            </a:r>
          </a:p>
          <a:p>
            <a:pPr>
              <a:spcBef>
                <a:spcPts val="600"/>
              </a:spcBef>
              <a:defRPr sz="1200">
                <a:solidFill>
                  <a:srgbClr val="1E293B"/>
                </a:solidFill>
              </a:defRPr>
            </a:pPr>
            <a:r>
              <a:t>•  NFR1 - Offline Availability: 100% core feature functionality without internet connection or cellular data bundles.</a:t>
            </a:r>
          </a:p>
          <a:p>
            <a:pPr>
              <a:spcBef>
                <a:spcPts val="600"/>
              </a:spcBef>
              <a:defRPr sz="1200">
                <a:solidFill>
                  <a:srgbClr val="1E293B"/>
                </a:solidFill>
              </a:defRPr>
            </a:pPr>
            <a:r>
              <a:t>•  NFR2 - Performance &amp; Latency: Dashboard and SQLite database boot time must remain under 2.0 seconds on standard devices.</a:t>
            </a:r>
          </a:p>
          <a:p>
            <a:pPr>
              <a:spcBef>
                <a:spcPts val="600"/>
              </a:spcBef>
              <a:defRPr sz="1200">
                <a:solidFill>
                  <a:srgbClr val="1E293B"/>
                </a:solidFill>
              </a:defRPr>
            </a:pPr>
            <a:r>
              <a:t>•  NFR3 - Data Privacy &amp; Sovereignty: Medical logs stored exclusively in device-level SQLite sandbox; zero cloud exfiltration.</a:t>
            </a:r>
          </a:p>
          <a:p>
            <a:pPr>
              <a:spcBef>
                <a:spcPts val="600"/>
              </a:spcBef>
              <a:defRPr sz="1200">
                <a:solidFill>
                  <a:srgbClr val="1E293B"/>
                </a:solidFill>
              </a:defRPr>
            </a:pPr>
            <a:r>
              <a:t>•  NFR4 - Hardware Resilience: SOS routine implements 10-second GPS timeout with graceful fallback to last known location.</a:t>
            </a:r>
          </a:p>
          <a:p>
            <a:pPr>
              <a:spcBef>
                <a:spcPts val="600"/>
              </a:spcBef>
              <a:defRPr sz="1200">
                <a:solidFill>
                  <a:srgbClr val="1E293B"/>
                </a:solidFill>
              </a:defRPr>
            </a:pPr>
            <a:r>
              <a:t>•  NFR5 - Usability &amp; Accessibility: Material 3 UI design with prominent, persistent red emergency button and legible fonts.</a:t>
            </a:r>
          </a:p>
          <a:p>
            <a:pPr>
              <a:spcBef>
                <a:spcPts val="600"/>
              </a:spcBef>
              <a:defRPr sz="1200">
                <a:solidFill>
                  <a:srgbClr val="1E293B"/>
                </a:solidFill>
              </a:defRPr>
            </a:pPr>
            <a:r>
              <a:t>•  NFR6 - Portability: Supports Android, iOS, and Desktop (Windows/Linux via SQLite FFI) from a single shared Dart codebase.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SOFTWARE DESIGN DOCUMENT (SDD)</a:t>
            </a:r>
          </a:p>
          <a:p>
            <a:pPr>
              <a:defRPr sz="2200" b="1">
                <a:solidFill>
                  <a:srgbClr val="1A202C"/>
                </a:solidFill>
              </a:defRPr>
            </a:pPr>
            <a:r>
              <a:t>System Architecture: Layered MVC Architectural Pattern</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06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728655" cy="141732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72768"/>
            <a:ext cx="10241280" cy="1188720"/>
          </a:xfrm>
          <a:prstGeom prst="rect">
            <a:avLst/>
          </a:prstGeom>
          <a:noFill/>
        </p:spPr>
        <p:txBody>
          <a:bodyPr wrap="square" lIns="0" tIns="0" rIns="0" bIns="0">
            <a:spAutoFit/>
          </a:bodyPr>
          <a:lstStyle/>
          <a:p>
            <a:pPr>
              <a:defRPr sz="1300" b="1">
                <a:solidFill>
                  <a:srgbClr val="E11D48"/>
                </a:solidFill>
              </a:defRPr>
            </a:pPr>
            <a:r>
              <a:t>PRESENTATION LAYER (VIEW)  —  Flutter Reactive Widgets</a:t>
            </a:r>
          </a:p>
          <a:p>
            <a:pPr>
              <a:spcBef>
                <a:spcPts val="400"/>
              </a:spcBef>
              <a:defRPr sz="1050">
                <a:solidFill>
                  <a:srgbClr val="1E293B"/>
                </a:solidFill>
              </a:defRPr>
            </a:pPr>
            <a:r>
              <a:t>OnboardingScreen: Collects profile &amp; LMP date.   |   DashboardScreen: Gestational progress bar, insights feed, SOS shortcut.   |   AppointmentsScreen: Interactive WHO checkup timeline with completion toggles.   |   LogSymptomScreen: Clinical form input for weight, BP, and symptoms.</a:t>
            </a:r>
          </a:p>
        </p:txBody>
      </p:sp>
      <p:sp>
        <p:nvSpPr>
          <p:cNvPr id="7" name="Rounded Rectangle 6"/>
          <p:cNvSpPr/>
          <p:nvPr/>
        </p:nvSpPr>
        <p:spPr>
          <a:xfrm>
            <a:off x="731520" y="3108960"/>
            <a:ext cx="10728655" cy="1417320"/>
          </a:xfrm>
          <a:prstGeom prst="roundRect">
            <a:avLst/>
          </a:prstGeom>
          <a:solidFill>
            <a:srgbClr val="F8FAF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218688"/>
            <a:ext cx="10241280" cy="1188720"/>
          </a:xfrm>
          <a:prstGeom prst="rect">
            <a:avLst/>
          </a:prstGeom>
          <a:noFill/>
        </p:spPr>
        <p:txBody>
          <a:bodyPr wrap="square" lIns="0" tIns="0" rIns="0" bIns="0">
            <a:spAutoFit/>
          </a:bodyPr>
          <a:lstStyle/>
          <a:p>
            <a:pPr>
              <a:defRPr sz="1300" b="1">
                <a:solidFill>
                  <a:srgbClr val="6366F1"/>
                </a:solidFill>
              </a:defRPr>
            </a:pPr>
            <a:r>
              <a:t>BUSINESS LOGIC LAYER (CONTROLLER)  —  Core Dart Computation Engines</a:t>
            </a:r>
          </a:p>
          <a:p>
            <a:pPr>
              <a:spcBef>
                <a:spcPts val="400"/>
              </a:spcBef>
              <a:defRPr sz="1050">
                <a:solidFill>
                  <a:srgbClr val="1E293B"/>
                </a:solidFill>
              </a:defRPr>
            </a:pPr>
            <a:r>
              <a:t>GestationalCalculator: Executes Naegele's rule and calculates WHO milestone dates.   |   EmergencyController: Coordinates GPS permissions, sensor acquisition, and SMS dispatch.   |   PdfExporter: Formats document layouts, builds data tables, and triggers native print.</a:t>
            </a:r>
          </a:p>
        </p:txBody>
      </p:sp>
      <p:sp>
        <p:nvSpPr>
          <p:cNvPr id="9" name="Rounded Rectangle 8"/>
          <p:cNvSpPr/>
          <p:nvPr/>
        </p:nvSpPr>
        <p:spPr>
          <a:xfrm>
            <a:off x="731520" y="4754880"/>
            <a:ext cx="10728655" cy="141732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864608"/>
            <a:ext cx="10241280" cy="1188720"/>
          </a:xfrm>
          <a:prstGeom prst="rect">
            <a:avLst/>
          </a:prstGeom>
          <a:noFill/>
        </p:spPr>
        <p:txBody>
          <a:bodyPr wrap="square" lIns="0" tIns="0" rIns="0" bIns="0">
            <a:spAutoFit/>
          </a:bodyPr>
          <a:lstStyle/>
          <a:p>
            <a:pPr>
              <a:defRPr sz="1300" b="1">
                <a:solidFill>
                  <a:srgbClr val="0D9488"/>
                </a:solidFill>
              </a:defRPr>
            </a:pPr>
            <a:r>
              <a:t>DATA ACCESS LAYER (MODEL / PERSISTENCE)  —  Singleton DAO &amp; SQLite Engine</a:t>
            </a:r>
          </a:p>
          <a:p>
            <a:pPr>
              <a:spcBef>
                <a:spcPts val="400"/>
              </a:spcBef>
              <a:defRPr sz="1050">
                <a:solidFill>
                  <a:srgbClr val="1E293B"/>
                </a:solidFill>
              </a:defRPr>
            </a:pPr>
            <a:r>
              <a:t>DatabaseHelper: Thread-safe singleton managing SQLite connection and migrations.   |   SymptomLog Model: Object-Relational mapping (toMap / fromMap serialization).   |   SafeMoms.db: Relational tables storing users, appointments, vitals, and education.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DATA MODELING &amp; STORAGE</a:t>
            </a:r>
          </a:p>
          <a:p>
            <a:pPr>
              <a:defRPr sz="2200" b="1">
                <a:solidFill>
                  <a:srgbClr val="1A202C"/>
                </a:solidFill>
              </a:defRPr>
            </a:pPr>
            <a:r>
              <a:t>Database Design: Embedded Relational SQLite Schema</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07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80" cy="2103120"/>
          </a:xfrm>
          <a:prstGeom prst="rect">
            <a:avLst/>
          </a:prstGeom>
          <a:noFill/>
        </p:spPr>
        <p:txBody>
          <a:bodyPr wrap="square" lIns="0" tIns="0" rIns="0" bIns="0">
            <a:spAutoFit/>
          </a:bodyPr>
          <a:lstStyle/>
          <a:p>
            <a:pPr>
              <a:defRPr sz="1300" b="1">
                <a:solidFill>
                  <a:srgbClr val="E11D48"/>
                </a:solidFill>
              </a:defRPr>
            </a:pPr>
            <a:r>
              <a:t>users Table</a:t>
            </a:r>
          </a:p>
          <a:p>
            <a:pPr>
              <a:spcAft>
                <a:spcPts val="400"/>
              </a:spcAft>
              <a:defRPr sz="850" b="1">
                <a:solidFill>
                  <a:srgbClr val="64748B"/>
                </a:solidFill>
              </a:defRPr>
            </a:pPr>
            <a:r>
              <a:t>MATERNAL PROFILE &amp; BASELINE</a:t>
            </a:r>
          </a:p>
          <a:p>
            <a:pPr>
              <a:spcBef>
                <a:spcPts val="200"/>
              </a:spcBef>
              <a:defRPr sz="1000">
                <a:solidFill>
                  <a:srgbClr val="1E293B"/>
                </a:solidFill>
              </a:defRPr>
            </a:pPr>
            <a:r>
              <a:t>• id: INTEGER PRIMARY KEY AUTOINCREMENT</a:t>
            </a:r>
          </a:p>
          <a:p>
            <a:pPr>
              <a:spcBef>
                <a:spcPts val="200"/>
              </a:spcBef>
              <a:defRPr sz="1000">
                <a:solidFill>
                  <a:srgbClr val="1E293B"/>
                </a:solidFill>
              </a:defRPr>
            </a:pPr>
            <a:r>
              <a:t>• name: TEXT NOT NULL (Patient Name)</a:t>
            </a:r>
          </a:p>
          <a:p>
            <a:pPr>
              <a:spcBef>
                <a:spcPts val="200"/>
              </a:spcBef>
              <a:defRPr sz="1000">
                <a:solidFill>
                  <a:srgbClr val="1E293B"/>
                </a:solidFill>
              </a:defRPr>
            </a:pPr>
            <a:r>
              <a:t>• phone: TEXT NOT NULL (Emergency Next-of-Kin)</a:t>
            </a:r>
          </a:p>
          <a:p>
            <a:pPr>
              <a:spcBef>
                <a:spcPts val="200"/>
              </a:spcBef>
              <a:defRPr sz="1000">
                <a:solidFill>
                  <a:srgbClr val="1E293B"/>
                </a:solidFill>
              </a:defRPr>
            </a:pPr>
            <a:r>
              <a:t>• lmp_date: TEXT NOT NULL (Last Menstrual Period)</a:t>
            </a:r>
          </a:p>
          <a:p>
            <a:pPr>
              <a:spcBef>
                <a:spcPts val="200"/>
              </a:spcBef>
              <a:defRPr sz="1000">
                <a:solidFill>
                  <a:srgbClr val="1E293B"/>
                </a:solidFill>
              </a:defRPr>
            </a:pPr>
            <a:r>
              <a:t>• edd_date: TEXT NOT NULL (Estimated Delivery Date)</a:t>
            </a:r>
          </a:p>
        </p:txBody>
      </p:sp>
      <p:sp>
        <p:nvSpPr>
          <p:cNvPr id="7" name="Rounded Rectangle 6"/>
          <p:cNvSpPr/>
          <p:nvPr/>
        </p:nvSpPr>
        <p:spPr>
          <a:xfrm>
            <a:off x="6309360" y="146304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00200"/>
            <a:ext cx="4754880" cy="2103120"/>
          </a:xfrm>
          <a:prstGeom prst="rect">
            <a:avLst/>
          </a:prstGeom>
          <a:noFill/>
        </p:spPr>
        <p:txBody>
          <a:bodyPr wrap="square" lIns="0" tIns="0" rIns="0" bIns="0">
            <a:spAutoFit/>
          </a:bodyPr>
          <a:lstStyle/>
          <a:p>
            <a:pPr>
              <a:defRPr sz="1300" b="1">
                <a:solidFill>
                  <a:srgbClr val="E11D48"/>
                </a:solidFill>
              </a:defRPr>
            </a:pPr>
            <a:r>
              <a:t>appointments Table</a:t>
            </a:r>
          </a:p>
          <a:p>
            <a:pPr>
              <a:spcAft>
                <a:spcPts val="400"/>
              </a:spcAft>
              <a:defRPr sz="850" b="1">
                <a:solidFill>
                  <a:srgbClr val="64748B"/>
                </a:solidFill>
              </a:defRPr>
            </a:pPr>
            <a:r>
              <a:t>WHO ANTENATAL CHECKUPS</a:t>
            </a:r>
          </a:p>
          <a:p>
            <a:pPr>
              <a:spcBef>
                <a:spcPts val="200"/>
              </a:spcBef>
              <a:defRPr sz="1000">
                <a:solidFill>
                  <a:srgbClr val="1E293B"/>
                </a:solidFill>
              </a:defRPr>
            </a:pPr>
            <a:r>
              <a:t>• id: INTEGER PRIMARY KEY AUTOINCREMENT</a:t>
            </a:r>
          </a:p>
          <a:p>
            <a:pPr>
              <a:spcBef>
                <a:spcPts val="200"/>
              </a:spcBef>
              <a:defRPr sz="1000">
                <a:solidFill>
                  <a:srgbClr val="1E293B"/>
                </a:solidFill>
              </a:defRPr>
            </a:pPr>
            <a:r>
              <a:t>• title: TEXT NOT NULL (e.g. 1st Contact: Scan)</a:t>
            </a:r>
          </a:p>
          <a:p>
            <a:pPr>
              <a:spcBef>
                <a:spcPts val="200"/>
              </a:spcBef>
              <a:defRPr sz="1000">
                <a:solidFill>
                  <a:srgbClr val="1E293B"/>
                </a:solidFill>
              </a:defRPr>
            </a:pPr>
            <a:r>
              <a:t>• scheduled_week: INTEGER NOT NULL (12, 20...)</a:t>
            </a:r>
          </a:p>
          <a:p>
            <a:pPr>
              <a:spcBef>
                <a:spcPts val="200"/>
              </a:spcBef>
              <a:defRPr sz="1000">
                <a:solidFill>
                  <a:srgbClr val="1E293B"/>
                </a:solidFill>
              </a:defRPr>
            </a:pPr>
            <a:r>
              <a:t>• target_date: TEXT NOT NULL (Calculated YYYY-MM-DD)</a:t>
            </a:r>
          </a:p>
          <a:p>
            <a:pPr>
              <a:spcBef>
                <a:spcPts val="200"/>
              </a:spcBef>
              <a:defRPr sz="1000">
                <a:solidFill>
                  <a:srgbClr val="1E293B"/>
                </a:solidFill>
              </a:defRPr>
            </a:pPr>
            <a:r>
              <a:t>• is_completed: INTEGER DEFAULT 0 (Boolean flag)</a:t>
            </a:r>
          </a:p>
        </p:txBody>
      </p:sp>
      <p:sp>
        <p:nvSpPr>
          <p:cNvPr id="9" name="Rounded Rectangle 8"/>
          <p:cNvSpPr/>
          <p:nvPr/>
        </p:nvSpPr>
        <p:spPr>
          <a:xfrm>
            <a:off x="731520" y="393192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4754880" cy="2103120"/>
          </a:xfrm>
          <a:prstGeom prst="rect">
            <a:avLst/>
          </a:prstGeom>
          <a:noFill/>
        </p:spPr>
        <p:txBody>
          <a:bodyPr wrap="square" lIns="0" tIns="0" rIns="0" bIns="0">
            <a:spAutoFit/>
          </a:bodyPr>
          <a:lstStyle/>
          <a:p>
            <a:pPr>
              <a:defRPr sz="1300" b="1">
                <a:solidFill>
                  <a:srgbClr val="E11D48"/>
                </a:solidFill>
              </a:defRPr>
            </a:pPr>
            <a:r>
              <a:t>symptoms Table</a:t>
            </a:r>
          </a:p>
          <a:p>
            <a:pPr>
              <a:spcAft>
                <a:spcPts val="400"/>
              </a:spcAft>
              <a:defRPr sz="850" b="1">
                <a:solidFill>
                  <a:srgbClr val="64748B"/>
                </a:solidFill>
              </a:defRPr>
            </a:pPr>
            <a:r>
              <a:t>DAILY CLINICAL TELEMETRY</a:t>
            </a:r>
          </a:p>
          <a:p>
            <a:pPr>
              <a:spcBef>
                <a:spcPts val="200"/>
              </a:spcBef>
              <a:defRPr sz="1000">
                <a:solidFill>
                  <a:srgbClr val="1E293B"/>
                </a:solidFill>
              </a:defRPr>
            </a:pPr>
            <a:r>
              <a:t>• id: INTEGER PRIMARY KEY AUTOINCREMENT</a:t>
            </a:r>
          </a:p>
          <a:p>
            <a:pPr>
              <a:spcBef>
                <a:spcPts val="200"/>
              </a:spcBef>
              <a:defRPr sz="1000">
                <a:solidFill>
                  <a:srgbClr val="1E293B"/>
                </a:solidFill>
              </a:defRPr>
            </a:pPr>
            <a:r>
              <a:t>• logged_date: TEXT NOT NULL (Timestamp)</a:t>
            </a:r>
          </a:p>
          <a:p>
            <a:pPr>
              <a:spcBef>
                <a:spcPts val="200"/>
              </a:spcBef>
              <a:defRPr sz="1000">
                <a:solidFill>
                  <a:srgbClr val="1E293B"/>
                </a:solidFill>
              </a:defRPr>
            </a:pPr>
            <a:r>
              <a:t>• weight: TEXT NOT NULL (kg metric)</a:t>
            </a:r>
          </a:p>
          <a:p>
            <a:pPr>
              <a:spcBef>
                <a:spcPts val="200"/>
              </a:spcBef>
              <a:defRPr sz="1000">
                <a:solidFill>
                  <a:srgbClr val="1E293B"/>
                </a:solidFill>
              </a:defRPr>
            </a:pPr>
            <a:r>
              <a:t>• systolic_bp: TEXT NOT NULL (mmHg)</a:t>
            </a:r>
          </a:p>
          <a:p>
            <a:pPr>
              <a:spcBef>
                <a:spcPts val="200"/>
              </a:spcBef>
              <a:defRPr sz="1000">
                <a:solidFill>
                  <a:srgbClr val="1E293B"/>
                </a:solidFill>
              </a:defRPr>
            </a:pPr>
            <a:r>
              <a:t>• diastolic_bp: TEXT NOT NULL (mmHg)</a:t>
            </a:r>
          </a:p>
          <a:p>
            <a:pPr>
              <a:spcBef>
                <a:spcPts val="200"/>
              </a:spcBef>
              <a:defRPr sz="1000">
                <a:solidFill>
                  <a:srgbClr val="1E293B"/>
                </a:solidFill>
              </a:defRPr>
            </a:pPr>
            <a:r>
              <a:t>• symptom_notes: TEXT NOT NULL (Clinical notes)</a:t>
            </a:r>
          </a:p>
        </p:txBody>
      </p:sp>
      <p:sp>
        <p:nvSpPr>
          <p:cNvPr id="11" name="Rounded Rectangle 10"/>
          <p:cNvSpPr/>
          <p:nvPr/>
        </p:nvSpPr>
        <p:spPr>
          <a:xfrm>
            <a:off x="6309360" y="393192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069080"/>
            <a:ext cx="4754880" cy="2103120"/>
          </a:xfrm>
          <a:prstGeom prst="rect">
            <a:avLst/>
          </a:prstGeom>
          <a:noFill/>
        </p:spPr>
        <p:txBody>
          <a:bodyPr wrap="square" lIns="0" tIns="0" rIns="0" bIns="0">
            <a:spAutoFit/>
          </a:bodyPr>
          <a:lstStyle/>
          <a:p>
            <a:pPr>
              <a:defRPr sz="1300" b="1">
                <a:solidFill>
                  <a:srgbClr val="E11D48"/>
                </a:solidFill>
              </a:defRPr>
            </a:pPr>
            <a:r>
              <a:t>educational_content Table</a:t>
            </a:r>
          </a:p>
          <a:p>
            <a:pPr>
              <a:spcAft>
                <a:spcPts val="400"/>
              </a:spcAft>
              <a:defRPr sz="850" b="1">
                <a:solidFill>
                  <a:srgbClr val="64748B"/>
                </a:solidFill>
              </a:defRPr>
            </a:pPr>
            <a:r>
              <a:t>OFFLINE KNOWLEDGE BASE</a:t>
            </a:r>
          </a:p>
          <a:p>
            <a:pPr>
              <a:spcBef>
                <a:spcPts val="200"/>
              </a:spcBef>
              <a:defRPr sz="1000">
                <a:solidFill>
                  <a:srgbClr val="1E293B"/>
                </a:solidFill>
              </a:defRPr>
            </a:pPr>
            <a:r>
              <a:t>• id: INTEGER PRIMARY KEY AUTOINCREMENT</a:t>
            </a:r>
          </a:p>
          <a:p>
            <a:pPr>
              <a:spcBef>
                <a:spcPts val="200"/>
              </a:spcBef>
              <a:defRPr sz="1000">
                <a:solidFill>
                  <a:srgbClr val="1E293B"/>
                </a:solidFill>
              </a:defRPr>
            </a:pPr>
            <a:r>
              <a:t>• target_week: INTEGER NOT NULL (Gestational week)</a:t>
            </a:r>
          </a:p>
          <a:p>
            <a:pPr>
              <a:spcBef>
                <a:spcPts val="200"/>
              </a:spcBef>
              <a:defRPr sz="1000">
                <a:solidFill>
                  <a:srgbClr val="1E293B"/>
                </a:solidFill>
              </a:defRPr>
            </a:pPr>
            <a:r>
              <a:t>• title: TEXT NOT NULL (Topic/Trimester Header)</a:t>
            </a:r>
          </a:p>
          <a:p>
            <a:pPr>
              <a:spcBef>
                <a:spcPts val="200"/>
              </a:spcBef>
              <a:defRPr sz="1000">
                <a:solidFill>
                  <a:srgbClr val="1E293B"/>
                </a:solidFill>
              </a:defRPr>
            </a:pPr>
            <a:r>
              <a:t>• body_text: TEXT NOT NULL (Folate, Vitals, Nutrition)</a:t>
            </a:r>
          </a:p>
          <a:p>
            <a:pPr>
              <a:spcBef>
                <a:spcPts val="200"/>
              </a:spcBef>
              <a:defRPr sz="1000">
                <a:solidFill>
                  <a:srgbClr val="1E293B"/>
                </a:solidFill>
              </a:defRPr>
            </a:pPr>
            <a:r>
              <a:t>• Pre-seeded automatically during SQLite _createDB()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CORE ALGORITHMS</a:t>
            </a:r>
          </a:p>
          <a:p>
            <a:pPr>
              <a:defRPr sz="2200" b="1">
                <a:solidFill>
                  <a:srgbClr val="1A202C"/>
                </a:solidFill>
              </a:defRPr>
            </a:pPr>
            <a:r>
              <a:t>Algorithmic Foundations: Gestational Computation &amp; Scheduling</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08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4480560"/>
          </a:xfrm>
          <a:prstGeom prst="rect">
            <a:avLst/>
          </a:prstGeom>
          <a:noFill/>
        </p:spPr>
        <p:txBody>
          <a:bodyPr wrap="square" lIns="0" tIns="0" rIns="0" bIns="0">
            <a:spAutoFit/>
          </a:bodyPr>
          <a:lstStyle/>
          <a:p>
            <a:pPr>
              <a:defRPr sz="1500" b="1">
                <a:solidFill>
                  <a:srgbClr val="1A202C"/>
                </a:solidFill>
              </a:defRPr>
            </a:pPr>
            <a:r>
              <a:t>Naegele's Rule Implementation</a:t>
            </a:r>
          </a:p>
          <a:p>
            <a:pPr>
              <a:defRPr sz="900" b="1">
                <a:solidFill>
                  <a:srgbClr val="E11D48"/>
                </a:solidFill>
              </a:defRPr>
            </a:pPr>
            <a:r>
              <a:t>OBSTETRIC MATHEMATICS</a:t>
            </a:r>
          </a:p>
          <a:p>
            <a:pPr>
              <a:spcBef>
                <a:spcPts val="600"/>
              </a:spcBef>
              <a:defRPr sz="1200">
                <a:solidFill>
                  <a:srgbClr val="1E293B"/>
                </a:solidFill>
              </a:defRPr>
            </a:pPr>
            <a:r>
              <a:t>•  Medical Formula: EDD = LMP + 7 Days + 1 Year - 3 Months.</a:t>
            </a:r>
          </a:p>
          <a:p>
            <a:pPr>
              <a:spcBef>
                <a:spcPts val="600"/>
              </a:spcBef>
              <a:defRPr sz="1200">
                <a:solidFill>
                  <a:srgbClr val="1E293B"/>
                </a:solidFill>
              </a:defRPr>
            </a:pPr>
            <a:r>
              <a:t>•  Mathematical Formulation in Dart:</a:t>
            </a:r>
          </a:p>
          <a:p>
            <a:pPr>
              <a:spcBef>
                <a:spcPts val="600"/>
              </a:spcBef>
              <a:defRPr sz="1200">
                <a:solidFill>
                  <a:srgbClr val="1E293B"/>
                </a:solidFill>
              </a:defRPr>
            </a:pPr>
            <a:r>
              <a:t>•    lmp.add(Duration(days: 7))</a:t>
            </a:r>
          </a:p>
          <a:p>
            <a:pPr>
              <a:spcBef>
                <a:spcPts val="600"/>
              </a:spcBef>
              <a:defRPr sz="1200">
                <a:solidFill>
                  <a:srgbClr val="1E293B"/>
                </a:solidFill>
              </a:defRPr>
            </a:pPr>
            <a:r>
              <a:t>•       .add(Duration(days: 365))</a:t>
            </a:r>
          </a:p>
          <a:p>
            <a:pPr>
              <a:spcBef>
                <a:spcPts val="600"/>
              </a:spcBef>
              <a:defRPr sz="1200">
                <a:solidFill>
                  <a:srgbClr val="1E293B"/>
                </a:solidFill>
              </a:defRPr>
            </a:pPr>
            <a:r>
              <a:t>•       .subtract(Duration(days: 90));</a:t>
            </a:r>
          </a:p>
          <a:p>
            <a:pPr>
              <a:spcBef>
                <a:spcPts val="600"/>
              </a:spcBef>
              <a:defRPr sz="1200">
                <a:solidFill>
                  <a:srgbClr val="1E293B"/>
                </a:solidFill>
              </a:defRPr>
            </a:pPr>
            <a:r>
              <a:t>•  Gestational Week Interval Calculation:</a:t>
            </a:r>
          </a:p>
          <a:p>
            <a:pPr>
              <a:spcBef>
                <a:spcPts val="600"/>
              </a:spcBef>
              <a:defRPr sz="1200">
                <a:solidFill>
                  <a:srgbClr val="1E293B"/>
                </a:solidFill>
              </a:defRPr>
            </a:pPr>
            <a:r>
              <a:t>•    differenceInDays = today.difference(lmp).inDays;</a:t>
            </a:r>
          </a:p>
          <a:p>
            <a:pPr>
              <a:spcBef>
                <a:spcPts val="600"/>
              </a:spcBef>
              <a:defRPr sz="1200">
                <a:solidFill>
                  <a:srgbClr val="1E293B"/>
                </a:solidFill>
              </a:defRPr>
            </a:pPr>
            <a:r>
              <a:t>•    week = (differenceInDays / 7).ceil();</a:t>
            </a:r>
          </a:p>
          <a:p>
            <a:pPr>
              <a:spcBef>
                <a:spcPts val="600"/>
              </a:spcBef>
              <a:defRPr sz="1200">
                <a:solidFill>
                  <a:srgbClr val="1E293B"/>
                </a:solidFill>
              </a:defRPr>
            </a:pPr>
            <a:r>
              <a:t>•  Boundary Clamping Protection:</a:t>
            </a:r>
          </a:p>
          <a:p>
            <a:pPr>
              <a:spcBef>
                <a:spcPts val="600"/>
              </a:spcBef>
              <a:defRPr sz="1200">
                <a:solidFill>
                  <a:srgbClr val="1E293B"/>
                </a:solidFill>
              </a:defRPr>
            </a:pPr>
            <a:r>
              <a:t>•    if (week &lt; 1) week = 1;</a:t>
            </a:r>
          </a:p>
          <a:p>
            <a:pPr>
              <a:spcBef>
                <a:spcPts val="600"/>
              </a:spcBef>
              <a:defRPr sz="1200">
                <a:solidFill>
                  <a:srgbClr val="1E293B"/>
                </a:solidFill>
              </a:defRPr>
            </a:pPr>
            <a:r>
              <a:t>•    if (week &gt; 40) week = 40;</a:t>
            </a:r>
          </a:p>
          <a:p>
            <a:pPr>
              <a:spcBef>
                <a:spcPts val="600"/>
              </a:spcBef>
              <a:defRPr sz="1200">
                <a:solidFill>
                  <a:srgbClr val="1E293B"/>
                </a:solidFill>
              </a:defRPr>
            </a:pPr>
            <a:r>
              <a:t>•  Protects UI against invalid calendar entry anomalies.</a:t>
            </a:r>
          </a:p>
        </p:txBody>
      </p:sp>
      <p:sp>
        <p:nvSpPr>
          <p:cNvPr id="7" name="Rounded Rectangle 6"/>
          <p:cNvSpPr/>
          <p:nvPr/>
        </p:nvSpPr>
        <p:spPr>
          <a:xfrm>
            <a:off x="630936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645920"/>
            <a:ext cx="4663440" cy="4480560"/>
          </a:xfrm>
          <a:prstGeom prst="rect">
            <a:avLst/>
          </a:prstGeom>
          <a:noFill/>
        </p:spPr>
        <p:txBody>
          <a:bodyPr wrap="square" lIns="0" tIns="0" rIns="0" bIns="0">
            <a:spAutoFit/>
          </a:bodyPr>
          <a:lstStyle/>
          <a:p>
            <a:pPr>
              <a:defRPr sz="1500" b="1">
                <a:solidFill>
                  <a:srgbClr val="1A202C"/>
                </a:solidFill>
              </a:defRPr>
            </a:pPr>
            <a:r>
              <a:t>WHO 8-Contact Milestone Generator</a:t>
            </a:r>
          </a:p>
          <a:p>
            <a:pPr>
              <a:defRPr sz="900" b="1">
                <a:solidFill>
                  <a:srgbClr val="E11D48"/>
                </a:solidFill>
              </a:defRPr>
            </a:pPr>
            <a:r>
              <a:t>AUTOMATED CLINICAL TIMELINES</a:t>
            </a:r>
          </a:p>
          <a:p>
            <a:pPr>
              <a:spcBef>
                <a:spcPts val="600"/>
              </a:spcBef>
              <a:defRPr sz="1200">
                <a:solidFill>
                  <a:srgbClr val="1E293B"/>
                </a:solidFill>
              </a:defRPr>
            </a:pPr>
            <a:r>
              <a:t>•  WHO Standard ANC Guideline: Replaces old 4-visit model with 8 high-impact clinical contacts.</a:t>
            </a:r>
          </a:p>
          <a:p>
            <a:pPr>
              <a:spcBef>
                <a:spcPts val="600"/>
              </a:spcBef>
              <a:defRPr sz="1200">
                <a:solidFill>
                  <a:srgbClr val="1E293B"/>
                </a:solidFill>
              </a:defRPr>
            </a:pPr>
            <a:r>
              <a:t>•  Automated Scheduling Algorithm:</a:t>
            </a:r>
          </a:p>
          <a:p>
            <a:pPr>
              <a:spcBef>
                <a:spcPts val="600"/>
              </a:spcBef>
              <a:defRPr sz="1200">
                <a:solidFill>
                  <a:srgbClr val="1E293B"/>
                </a:solidFill>
              </a:defRPr>
            </a:pPr>
            <a:r>
              <a:t>•    For each target week W in [12, 20, 26, 30, 34, 36, 38, 40]:</a:t>
            </a:r>
          </a:p>
          <a:p>
            <a:pPr>
              <a:spcBef>
                <a:spcPts val="600"/>
              </a:spcBef>
              <a:defRPr sz="1200">
                <a:solidFill>
                  <a:srgbClr val="1E293B"/>
                </a:solidFill>
              </a:defRPr>
            </a:pPr>
            <a:r>
              <a:t>•      targetDays = W * 7;</a:t>
            </a:r>
          </a:p>
          <a:p>
            <a:pPr>
              <a:spcBef>
                <a:spcPts val="600"/>
              </a:spcBef>
              <a:defRPr sz="1200">
                <a:solidFill>
                  <a:srgbClr val="1E293B"/>
                </a:solidFill>
              </a:defRPr>
            </a:pPr>
            <a:r>
              <a:t>•      scheduledDate = lmp.add(Duration(days: targetDays));</a:t>
            </a:r>
          </a:p>
          <a:p>
            <a:pPr>
              <a:spcBef>
                <a:spcPts val="600"/>
              </a:spcBef>
              <a:defRPr sz="1200">
                <a:solidFill>
                  <a:srgbClr val="1E293B"/>
                </a:solidFill>
              </a:defRPr>
            </a:pPr>
            <a:r>
              <a:t>•      formatDate = YYYY-MM-DD string;</a:t>
            </a:r>
          </a:p>
          <a:p>
            <a:pPr>
              <a:spcBef>
                <a:spcPts val="600"/>
              </a:spcBef>
              <a:defRPr sz="1200">
                <a:solidFill>
                  <a:srgbClr val="1E293B"/>
                </a:solidFill>
              </a:defRPr>
            </a:pPr>
            <a:r>
              <a:t>•      insert into appointments table;</a:t>
            </a:r>
          </a:p>
          <a:p>
            <a:pPr>
              <a:spcBef>
                <a:spcPts val="600"/>
              </a:spcBef>
              <a:defRPr sz="1200">
                <a:solidFill>
                  <a:srgbClr val="1E293B"/>
                </a:solidFill>
              </a:defRPr>
            </a:pPr>
            <a:r>
              <a:t>•  Clinical Relevance of Milestones:</a:t>
            </a:r>
          </a:p>
          <a:p>
            <a:pPr>
              <a:spcBef>
                <a:spcPts val="600"/>
              </a:spcBef>
              <a:defRPr sz="1200">
                <a:solidFill>
                  <a:srgbClr val="1E293B"/>
                </a:solidFill>
              </a:defRPr>
            </a:pPr>
            <a:r>
              <a:t>•    • Week 12: Booking &amp; Ultrasound Scan</a:t>
            </a:r>
          </a:p>
          <a:p>
            <a:pPr>
              <a:spcBef>
                <a:spcPts val="600"/>
              </a:spcBef>
              <a:defRPr sz="1200">
                <a:solidFill>
                  <a:srgbClr val="1E293B"/>
                </a:solidFill>
              </a:defRPr>
            </a:pPr>
            <a:r>
              <a:t>•    • Week 20: Anomaly &amp; Preeclampsia Screen</a:t>
            </a:r>
          </a:p>
          <a:p>
            <a:pPr>
              <a:spcBef>
                <a:spcPts val="600"/>
              </a:spcBef>
              <a:defRPr sz="1200">
                <a:solidFill>
                  <a:srgbClr val="1E293B"/>
                </a:solidFill>
              </a:defRPr>
            </a:pPr>
            <a:r>
              <a:t>•    • Week 30: Tetanus &amp; Hypertension Monitoring</a:t>
            </a:r>
          </a:p>
          <a:p>
            <a:pPr>
              <a:spcBef>
                <a:spcPts val="600"/>
              </a:spcBef>
              <a:defRPr sz="1200">
                <a:solidFill>
                  <a:srgbClr val="1E293B"/>
                </a:solidFill>
              </a:defRPr>
            </a:pPr>
            <a:r>
              <a:t>•    • Week 38: Fetal Presentation &amp; Delivery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SYSTEM HARDWARE HOOKS</a:t>
            </a:r>
          </a:p>
          <a:p>
            <a:pPr>
              <a:defRPr sz="2200" b="1">
                <a:solidFill>
                  <a:srgbClr val="1A202C"/>
                </a:solidFill>
              </a:defRPr>
            </a:pPr>
            <a:r>
              <a:t>Hardware Integration: Emergency GPS Triage &amp; Telephony Carrier SMS</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09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918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834640" cy="4480560"/>
          </a:xfrm>
          <a:prstGeom prst="rect">
            <a:avLst/>
          </a:prstGeom>
          <a:noFill/>
        </p:spPr>
        <p:txBody>
          <a:bodyPr wrap="square" lIns="0" tIns="0" rIns="0" bIns="0">
            <a:spAutoFit/>
          </a:bodyPr>
          <a:lstStyle/>
          <a:p>
            <a:pPr>
              <a:defRPr sz="1500" b="1">
                <a:solidFill>
                  <a:srgbClr val="1A202C"/>
                </a:solidFill>
              </a:defRPr>
            </a:pPr>
            <a:r>
              <a:t>1. Hardware GPS Sensor</a:t>
            </a:r>
          </a:p>
          <a:p>
            <a:pPr>
              <a:defRPr sz="900" b="1">
                <a:solidFill>
                  <a:srgbClr val="E11D48"/>
                </a:solidFill>
              </a:defRPr>
            </a:pPr>
            <a:r>
              <a:t>SATELLITE ACQUISITION</a:t>
            </a:r>
          </a:p>
          <a:p>
            <a:pPr>
              <a:spcBef>
                <a:spcPts val="600"/>
              </a:spcBef>
              <a:defRPr sz="1200">
                <a:solidFill>
                  <a:srgbClr val="1E293B"/>
                </a:solidFill>
              </a:defRPr>
            </a:pPr>
            <a:r>
              <a:t>•  Geolocator API Hook: Directly communicates with device GPS chipset.</a:t>
            </a:r>
          </a:p>
          <a:p>
            <a:pPr>
              <a:spcBef>
                <a:spcPts val="600"/>
              </a:spcBef>
              <a:defRPr sz="1200">
                <a:solidFill>
                  <a:srgbClr val="1E293B"/>
                </a:solidFill>
              </a:defRPr>
            </a:pPr>
            <a:r>
              <a:t>•  Permission Validation: Checks and requests runtime location privileges.</a:t>
            </a:r>
          </a:p>
          <a:p>
            <a:pPr>
              <a:spcBef>
                <a:spcPts val="600"/>
              </a:spcBef>
              <a:defRPr sz="1200">
                <a:solidFill>
                  <a:srgbClr val="1E293B"/>
                </a:solidFill>
              </a:defRPr>
            </a:pPr>
            <a:r>
              <a:t>•  10-Second Time-Limit: Prevents infinite locking in indoors or dense foliage.</a:t>
            </a:r>
          </a:p>
          <a:p>
            <a:pPr>
              <a:spcBef>
                <a:spcPts val="600"/>
              </a:spcBef>
              <a:defRPr sz="1200">
                <a:solidFill>
                  <a:srgbClr val="1E293B"/>
                </a:solidFill>
              </a:defRPr>
            </a:pPr>
            <a:r>
              <a:t>•  High-Accuracy Target: Captures latitude and longitude coordinates for search and rescue.</a:t>
            </a:r>
          </a:p>
        </p:txBody>
      </p:sp>
      <p:sp>
        <p:nvSpPr>
          <p:cNvPr id="7" name="Rounded Rectangle 6"/>
          <p:cNvSpPr/>
          <p:nvPr/>
        </p:nvSpPr>
        <p:spPr>
          <a:xfrm>
            <a:off x="4389120" y="1463040"/>
            <a:ext cx="32918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45920"/>
            <a:ext cx="2834640" cy="4480560"/>
          </a:xfrm>
          <a:prstGeom prst="rect">
            <a:avLst/>
          </a:prstGeom>
          <a:noFill/>
        </p:spPr>
        <p:txBody>
          <a:bodyPr wrap="square" lIns="0" tIns="0" rIns="0" bIns="0">
            <a:spAutoFit/>
          </a:bodyPr>
          <a:lstStyle/>
          <a:p>
            <a:pPr>
              <a:defRPr sz="1500" b="1">
                <a:solidFill>
                  <a:srgbClr val="1A202C"/>
                </a:solidFill>
              </a:defRPr>
            </a:pPr>
            <a:r>
              <a:t>2. Resilient Fallback Logic</a:t>
            </a:r>
          </a:p>
          <a:p>
            <a:pPr>
              <a:defRPr sz="900" b="1">
                <a:solidFill>
                  <a:srgbClr val="E11D48"/>
                </a:solidFill>
              </a:defRPr>
            </a:pPr>
            <a:r>
              <a:t>FAULT-TOLERANT ENGINE</a:t>
            </a:r>
          </a:p>
          <a:p>
            <a:pPr>
              <a:spcBef>
                <a:spcPts val="600"/>
              </a:spcBef>
              <a:defRPr sz="1200">
                <a:solidFill>
                  <a:srgbClr val="1E293B"/>
                </a:solidFill>
              </a:defRPr>
            </a:pPr>
            <a:r>
              <a:t>•  Satellite Timeout Handling: If live GPS lock fails within 10s, system catches exception gracefully.</a:t>
            </a:r>
          </a:p>
          <a:p>
            <a:pPr>
              <a:spcBef>
                <a:spcPts val="600"/>
              </a:spcBef>
              <a:defRPr sz="1200">
                <a:solidFill>
                  <a:srgbClr val="1E293B"/>
                </a:solidFill>
              </a:defRPr>
            </a:pPr>
            <a:r>
              <a:t>•  Last Known Position: Fetches cached coordinates stored by OS kernel.</a:t>
            </a:r>
          </a:p>
          <a:p>
            <a:pPr>
              <a:spcBef>
                <a:spcPts val="600"/>
              </a:spcBef>
              <a:defRPr sz="1200">
                <a:solidFill>
                  <a:srgbClr val="1E293B"/>
                </a:solidFill>
              </a:defRPr>
            </a:pPr>
            <a:r>
              <a:t>•  Zero-Lock Safety Message: If no GPS available, dispatches urgent distress alert indicating coordinates unavailable.</a:t>
            </a:r>
          </a:p>
          <a:p>
            <a:pPr>
              <a:spcBef>
                <a:spcPts val="600"/>
              </a:spcBef>
              <a:defRPr sz="1200">
                <a:solidFill>
                  <a:srgbClr val="1E293B"/>
                </a:solidFill>
              </a:defRPr>
            </a:pPr>
            <a:r>
              <a:t>•  Guaranteed Execution: Ensures SOS transmission is never blocked by hardware timeouts.</a:t>
            </a:r>
          </a:p>
        </p:txBody>
      </p:sp>
      <p:sp>
        <p:nvSpPr>
          <p:cNvPr id="9" name="Rounded Rectangle 8"/>
          <p:cNvSpPr/>
          <p:nvPr/>
        </p:nvSpPr>
        <p:spPr>
          <a:xfrm>
            <a:off x="8046720" y="1463040"/>
            <a:ext cx="33832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45920"/>
            <a:ext cx="2926080" cy="4480560"/>
          </a:xfrm>
          <a:prstGeom prst="rect">
            <a:avLst/>
          </a:prstGeom>
          <a:noFill/>
        </p:spPr>
        <p:txBody>
          <a:bodyPr wrap="square" lIns="0" tIns="0" rIns="0" bIns="0">
            <a:spAutoFit/>
          </a:bodyPr>
          <a:lstStyle/>
          <a:p>
            <a:pPr>
              <a:defRPr sz="1500" b="1">
                <a:solidFill>
                  <a:srgbClr val="1A202C"/>
                </a:solidFill>
              </a:defRPr>
            </a:pPr>
            <a:r>
              <a:t>3. Telephony SMS Intent</a:t>
            </a:r>
          </a:p>
          <a:p>
            <a:pPr>
              <a:defRPr sz="900" b="1">
                <a:solidFill>
                  <a:srgbClr val="E11D48"/>
                </a:solidFill>
              </a:defRPr>
            </a:pPr>
            <a:r>
              <a:t>CARRIER BROADCAST</a:t>
            </a:r>
          </a:p>
          <a:p>
            <a:pPr>
              <a:spcBef>
                <a:spcPts val="600"/>
              </a:spcBef>
              <a:defRPr sz="1200">
                <a:solidFill>
                  <a:srgbClr val="1E293B"/>
                </a:solidFill>
              </a:defRPr>
            </a:pPr>
            <a:r>
              <a:t>•  Carrier Waves vs Data: Operates over standard cellular GSM signaling (no Wi-Fi/4G bundle needed).</a:t>
            </a:r>
          </a:p>
          <a:p>
            <a:pPr>
              <a:spcBef>
                <a:spcPts val="600"/>
              </a:spcBef>
              <a:defRPr sz="1200">
                <a:solidFill>
                  <a:srgbClr val="1E293B"/>
                </a:solidFill>
              </a:defRPr>
            </a:pPr>
            <a:r>
              <a:t>•  Dynamic Payload Assembly: Combines urgent alert text + live Google Maps hyperlink.</a:t>
            </a:r>
          </a:p>
          <a:p>
            <a:pPr>
              <a:spcBef>
                <a:spcPts val="600"/>
              </a:spcBef>
              <a:defRPr sz="1200">
                <a:solidFill>
                  <a:srgbClr val="1E293B"/>
                </a:solidFill>
              </a:defRPr>
            </a:pPr>
            <a:r>
              <a:t>•  Recipient Resolution: Fetches emergency next-of-kin contact directly from local SQLite profile.</a:t>
            </a:r>
          </a:p>
          <a:p>
            <a:pPr>
              <a:spcBef>
                <a:spcPts val="600"/>
              </a:spcBef>
              <a:defRPr sz="1200">
                <a:solidFill>
                  <a:srgbClr val="1E293B"/>
                </a:solidFill>
              </a:defRPr>
            </a:pPr>
            <a:r>
              <a:t>•  Zero Latency Dispatch: Launches telephony carrier intent immediately upon tap.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DOCUMENT GENERATION SUBSYSTEM</a:t>
            </a:r>
          </a:p>
          <a:p>
            <a:pPr>
              <a:defRPr sz="2200" b="1">
                <a:solidFill>
                  <a:srgbClr val="1A202C"/>
                </a:solidFill>
              </a:defRPr>
            </a:pPr>
            <a:r>
              <a:t>Clinical Report Engine: Zero-Data PDF Document Exporter</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10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4480560"/>
          </a:xfrm>
          <a:prstGeom prst="rect">
            <a:avLst/>
          </a:prstGeom>
          <a:noFill/>
        </p:spPr>
        <p:txBody>
          <a:bodyPr wrap="square" lIns="0" tIns="0" rIns="0" bIns="0">
            <a:spAutoFit/>
          </a:bodyPr>
          <a:lstStyle/>
          <a:p>
            <a:pPr>
              <a:defRPr sz="1500" b="1">
                <a:solidFill>
                  <a:srgbClr val="1A202C"/>
                </a:solidFill>
              </a:defRPr>
            </a:pPr>
            <a:r>
              <a:t>PDF Architecture &amp; Compilation</a:t>
            </a:r>
          </a:p>
          <a:p>
            <a:pPr>
              <a:defRPr sz="900" b="1">
                <a:solidFill>
                  <a:srgbClr val="E11D48"/>
                </a:solidFill>
              </a:defRPr>
            </a:pPr>
            <a:r>
              <a:t>TECHNICAL DOCUMENT SYNTHESIS</a:t>
            </a:r>
          </a:p>
          <a:p>
            <a:pPr>
              <a:spcBef>
                <a:spcPts val="600"/>
              </a:spcBef>
              <a:defRPr sz="1200">
                <a:solidFill>
                  <a:srgbClr val="1E293B"/>
                </a:solidFill>
              </a:defRPr>
            </a:pPr>
            <a:r>
              <a:t>•  Client-Side Document Synthesizer: Built using Dart `pdf` and `printing` libraries.</a:t>
            </a:r>
          </a:p>
          <a:p>
            <a:pPr>
              <a:spcBef>
                <a:spcPts val="600"/>
              </a:spcBef>
              <a:defRPr sz="1200">
                <a:solidFill>
                  <a:srgbClr val="1E293B"/>
                </a:solidFill>
              </a:defRPr>
            </a:pPr>
            <a:r>
              <a:t>•  Standard A4 Format: Pre-configured with international clinical margins (32pt) and grid layouts.</a:t>
            </a:r>
          </a:p>
          <a:p>
            <a:pPr>
              <a:spcBef>
                <a:spcPts val="600"/>
              </a:spcBef>
              <a:defRPr sz="1200">
                <a:solidFill>
                  <a:srgbClr val="1E293B"/>
                </a:solidFill>
              </a:defRPr>
            </a:pPr>
            <a:r>
              <a:t>•  Patient Meta Card: Displays patient name, compilation timestamp, and local database verification note.</a:t>
            </a:r>
          </a:p>
          <a:p>
            <a:pPr>
              <a:spcBef>
                <a:spcPts val="600"/>
              </a:spcBef>
              <a:defRPr sz="1200">
                <a:solidFill>
                  <a:srgbClr val="1E293B"/>
                </a:solidFill>
              </a:defRPr>
            </a:pPr>
            <a:r>
              <a:t>•  Dynamic Table Layout: Maps historical SQLite symptom rows into structured printable rows:</a:t>
            </a:r>
          </a:p>
          <a:p>
            <a:pPr>
              <a:spcBef>
                <a:spcPts val="600"/>
              </a:spcBef>
              <a:defRPr sz="1200">
                <a:solidFill>
                  <a:srgbClr val="1E293B"/>
                </a:solidFill>
              </a:defRPr>
            </a:pPr>
            <a:r>
              <a:t>•    • Column 1: Logged Date (YYYY-MM-DD)</a:t>
            </a:r>
          </a:p>
          <a:p>
            <a:pPr>
              <a:spcBef>
                <a:spcPts val="600"/>
              </a:spcBef>
              <a:defRPr sz="1200">
                <a:solidFill>
                  <a:srgbClr val="1E293B"/>
                </a:solidFill>
              </a:defRPr>
            </a:pPr>
            <a:r>
              <a:t>•    • Column 2: Maternal Weight (kg)</a:t>
            </a:r>
          </a:p>
          <a:p>
            <a:pPr>
              <a:spcBef>
                <a:spcPts val="600"/>
              </a:spcBef>
              <a:defRPr sz="1200">
                <a:solidFill>
                  <a:srgbClr val="1E293B"/>
                </a:solidFill>
              </a:defRPr>
            </a:pPr>
            <a:r>
              <a:t>•    • Column 3: Blood Pressure (Systolic / Diastolic)</a:t>
            </a:r>
          </a:p>
          <a:p>
            <a:pPr>
              <a:spcBef>
                <a:spcPts val="600"/>
              </a:spcBef>
              <a:defRPr sz="1200">
                <a:solidFill>
                  <a:srgbClr val="1E293B"/>
                </a:solidFill>
              </a:defRPr>
            </a:pPr>
            <a:r>
              <a:t>•    • Column 4: Clinical Symptom Notes &amp; Warnings</a:t>
            </a:r>
          </a:p>
          <a:p>
            <a:pPr>
              <a:spcBef>
                <a:spcPts val="600"/>
              </a:spcBef>
              <a:defRPr sz="1200">
                <a:solidFill>
                  <a:srgbClr val="1E293B"/>
                </a:solidFill>
              </a:defRPr>
            </a:pPr>
            <a:r>
              <a:t>•  Empty-State Protection: Emits clean status notification if no logs are recorded yet.</a:t>
            </a:r>
          </a:p>
        </p:txBody>
      </p:sp>
      <p:sp>
        <p:nvSpPr>
          <p:cNvPr id="7" name="Rounded Rectangle 6"/>
          <p:cNvSpPr/>
          <p:nvPr/>
        </p:nvSpPr>
        <p:spPr>
          <a:xfrm>
            <a:off x="630936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645920"/>
            <a:ext cx="4663440" cy="4480560"/>
          </a:xfrm>
          <a:prstGeom prst="rect">
            <a:avLst/>
          </a:prstGeom>
          <a:noFill/>
        </p:spPr>
        <p:txBody>
          <a:bodyPr wrap="square" lIns="0" tIns="0" rIns="0" bIns="0">
            <a:spAutoFit/>
          </a:bodyPr>
          <a:lstStyle/>
          <a:p>
            <a:pPr>
              <a:defRPr sz="1500" b="1">
                <a:solidFill>
                  <a:srgbClr val="1A202C"/>
                </a:solidFill>
              </a:defRPr>
            </a:pPr>
            <a:r>
              <a:t>Clinical Value &amp; Native Sharing</a:t>
            </a:r>
          </a:p>
          <a:p>
            <a:pPr>
              <a:defRPr sz="900" b="1">
                <a:solidFill>
                  <a:srgbClr val="E11D48"/>
                </a:solidFill>
              </a:defRPr>
            </a:pPr>
            <a:r>
              <a:t>MEDICAL INTEROPERABILITY</a:t>
            </a:r>
          </a:p>
          <a:p>
            <a:pPr>
              <a:spcBef>
                <a:spcPts val="600"/>
              </a:spcBef>
              <a:defRPr sz="1200">
                <a:solidFill>
                  <a:srgbClr val="1E293B"/>
                </a:solidFill>
              </a:defRPr>
            </a:pPr>
            <a:r>
              <a:t>•  Bridging Rural Healthcare: Rural health posts often lack electronic health record systems (EHR). SafeMoms acts as a portable EHR.</a:t>
            </a:r>
          </a:p>
          <a:p>
            <a:pPr>
              <a:spcBef>
                <a:spcPts val="600"/>
              </a:spcBef>
              <a:defRPr sz="1200">
                <a:solidFill>
                  <a:srgbClr val="1E293B"/>
                </a:solidFill>
              </a:defRPr>
            </a:pPr>
            <a:r>
              <a:t>•  Doctor Review in Seconds: Attending physicians can inspect a 40-week blood pressure progression chart in 30 seconds to catch preeclampsia.</a:t>
            </a:r>
          </a:p>
          <a:p>
            <a:pPr>
              <a:spcBef>
                <a:spcPts val="600"/>
              </a:spcBef>
              <a:defRPr sz="1200">
                <a:solidFill>
                  <a:srgbClr val="1E293B"/>
                </a:solidFill>
              </a:defRPr>
            </a:pPr>
            <a:r>
              <a:t>•  Native OS File Sharing: Triggers Android / iOS native share sheet to send via Bluetooth, WhatsApp, or Direct Wireless Thermal Printer.</a:t>
            </a:r>
          </a:p>
          <a:p>
            <a:pPr>
              <a:spcBef>
                <a:spcPts val="600"/>
              </a:spcBef>
              <a:defRPr sz="1200">
                <a:solidFill>
                  <a:srgbClr val="1E293B"/>
                </a:solidFill>
              </a:defRPr>
            </a:pPr>
            <a:r>
              <a:t>•  Legal Disclaimer Integration: Compliant with software safety guidelines; prints a mandatory advisory that clinical decisions require certified professional validation.</a:t>
            </a:r>
          </a:p>
          <a:p>
            <a:pPr>
              <a:spcBef>
                <a:spcPts val="600"/>
              </a:spcBef>
              <a:defRPr sz="1200">
                <a:solidFill>
                  <a:srgbClr val="1E293B"/>
                </a:solidFill>
              </a:defRPr>
            </a:pPr>
            <a:r>
              <a:t>•  Zero Internet Required: The entire compilation executes in memory without uploading patient records to third-party web servers.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UI/UX ENGINEERING</a:t>
            </a:r>
          </a:p>
          <a:p>
            <a:pPr>
              <a:defRPr sz="2200" b="1">
                <a:solidFill>
                  <a:srgbClr val="1A202C"/>
                </a:solidFill>
              </a:defRPr>
            </a:pPr>
            <a:r>
              <a:t>User Interface &amp; Experience: Accessible, Emotionally Reassuring</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11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24688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2194560" cy="4480560"/>
          </a:xfrm>
          <a:prstGeom prst="rect">
            <a:avLst/>
          </a:prstGeom>
          <a:noFill/>
        </p:spPr>
        <p:txBody>
          <a:bodyPr wrap="square" lIns="0" tIns="0" rIns="0" bIns="0">
            <a:spAutoFit/>
          </a:bodyPr>
          <a:lstStyle/>
          <a:p>
            <a:pPr>
              <a:defRPr sz="1300" b="1">
                <a:solidFill>
                  <a:srgbClr val="E11D48"/>
                </a:solidFill>
              </a:defRPr>
            </a:pPr>
            <a:r>
              <a:t>Onboarding Screen</a:t>
            </a:r>
          </a:p>
          <a:p>
            <a:pPr>
              <a:spcAft>
                <a:spcPts val="800"/>
              </a:spcAft>
              <a:defRPr sz="850" b="1">
                <a:solidFill>
                  <a:srgbClr val="64748B"/>
                </a:solidFill>
              </a:defRPr>
            </a:pPr>
            <a:r>
              <a:t>PROFILE SETUP &amp; BASELINE INPUT</a:t>
            </a:r>
          </a:p>
          <a:p>
            <a:pPr>
              <a:spcBef>
                <a:spcPts val="400"/>
              </a:spcBef>
              <a:defRPr sz="1050">
                <a:solidFill>
                  <a:srgbClr val="1E293B"/>
                </a:solidFill>
              </a:defRPr>
            </a:pPr>
            <a:r>
              <a:t>• High-contrast text inputs for Name, Contact, and LMP Date.</a:t>
            </a:r>
          </a:p>
          <a:p>
            <a:pPr>
              <a:spcBef>
                <a:spcPts val="400"/>
              </a:spcBef>
              <a:defRPr sz="1050">
                <a:solidFill>
                  <a:srgbClr val="1E293B"/>
                </a:solidFill>
              </a:defRPr>
            </a:pPr>
            <a:r>
              <a:t>• Native date picker ensuring zero calendar format errors.</a:t>
            </a:r>
          </a:p>
          <a:p>
            <a:pPr>
              <a:spcBef>
                <a:spcPts val="400"/>
              </a:spcBef>
              <a:defRPr sz="1050">
                <a:solidFill>
                  <a:srgbClr val="1E293B"/>
                </a:solidFill>
              </a:defRPr>
            </a:pPr>
            <a:r>
              <a:t>• Single-tap database seeding &amp; route transition.</a:t>
            </a:r>
          </a:p>
        </p:txBody>
      </p:sp>
      <p:sp>
        <p:nvSpPr>
          <p:cNvPr id="7" name="Rounded Rectangle 6"/>
          <p:cNvSpPr/>
          <p:nvPr/>
        </p:nvSpPr>
        <p:spPr>
          <a:xfrm>
            <a:off x="3474720" y="1463040"/>
            <a:ext cx="24688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645920"/>
            <a:ext cx="2194560" cy="4480560"/>
          </a:xfrm>
          <a:prstGeom prst="rect">
            <a:avLst/>
          </a:prstGeom>
          <a:noFill/>
        </p:spPr>
        <p:txBody>
          <a:bodyPr wrap="square" lIns="0" tIns="0" rIns="0" bIns="0">
            <a:spAutoFit/>
          </a:bodyPr>
          <a:lstStyle/>
          <a:p>
            <a:pPr>
              <a:defRPr sz="1300" b="1">
                <a:solidFill>
                  <a:srgbClr val="E11D48"/>
                </a:solidFill>
              </a:defRPr>
            </a:pPr>
            <a:r>
              <a:t>Dashboard Screen</a:t>
            </a:r>
          </a:p>
          <a:p>
            <a:pPr>
              <a:spcAft>
                <a:spcPts val="800"/>
              </a:spcAft>
              <a:defRPr sz="850" b="1">
                <a:solidFill>
                  <a:srgbClr val="64748B"/>
                </a:solidFill>
              </a:defRPr>
            </a:pPr>
            <a:r>
              <a:t>CENTRAL MATERNAL HUB</a:t>
            </a:r>
          </a:p>
          <a:p>
            <a:pPr>
              <a:spcBef>
                <a:spcPts val="400"/>
              </a:spcBef>
              <a:defRPr sz="1050">
                <a:solidFill>
                  <a:srgbClr val="1E293B"/>
                </a:solidFill>
              </a:defRPr>
            </a:pPr>
            <a:r>
              <a:t>• Visual progress gradient bar (Week X / 40 completed).</a:t>
            </a:r>
          </a:p>
          <a:p>
            <a:pPr>
              <a:spcBef>
                <a:spcPts val="400"/>
              </a:spcBef>
              <a:defRPr sz="1050">
                <a:solidFill>
                  <a:srgbClr val="1E293B"/>
                </a:solidFill>
              </a:defRPr>
            </a:pPr>
            <a:r>
              <a:t>• Upcoming WHO checkup reminder with countdown card.</a:t>
            </a:r>
          </a:p>
          <a:p>
            <a:pPr>
              <a:spcBef>
                <a:spcPts val="400"/>
              </a:spcBef>
              <a:defRPr sz="1050">
                <a:solidFill>
                  <a:srgbClr val="1E293B"/>
                </a:solidFill>
              </a:defRPr>
            </a:pPr>
            <a:r>
              <a:t>• Trimester-specific educational insights feed.</a:t>
            </a:r>
          </a:p>
        </p:txBody>
      </p:sp>
      <p:sp>
        <p:nvSpPr>
          <p:cNvPr id="9" name="Rounded Rectangle 8"/>
          <p:cNvSpPr/>
          <p:nvPr/>
        </p:nvSpPr>
        <p:spPr>
          <a:xfrm>
            <a:off x="6217920" y="1463040"/>
            <a:ext cx="24688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45920"/>
            <a:ext cx="2194560" cy="4480560"/>
          </a:xfrm>
          <a:prstGeom prst="rect">
            <a:avLst/>
          </a:prstGeom>
          <a:noFill/>
        </p:spPr>
        <p:txBody>
          <a:bodyPr wrap="square" lIns="0" tIns="0" rIns="0" bIns="0">
            <a:spAutoFit/>
          </a:bodyPr>
          <a:lstStyle/>
          <a:p>
            <a:pPr>
              <a:defRPr sz="1300" b="1">
                <a:solidFill>
                  <a:srgbClr val="E11D48"/>
                </a:solidFill>
              </a:defRPr>
            </a:pPr>
            <a:r>
              <a:t>Appointments Screen</a:t>
            </a:r>
          </a:p>
          <a:p>
            <a:pPr>
              <a:spcAft>
                <a:spcPts val="800"/>
              </a:spcAft>
              <a:defRPr sz="850" b="1">
                <a:solidFill>
                  <a:srgbClr val="64748B"/>
                </a:solidFill>
              </a:defRPr>
            </a:pPr>
            <a:r>
              <a:t>INTERACTIVE MILESTONE TIMELINE</a:t>
            </a:r>
          </a:p>
          <a:p>
            <a:pPr>
              <a:spcBef>
                <a:spcPts val="400"/>
              </a:spcBef>
              <a:defRPr sz="1050">
                <a:solidFill>
                  <a:srgbClr val="1E293B"/>
                </a:solidFill>
              </a:defRPr>
            </a:pPr>
            <a:r>
              <a:t>• Card-based list of 8 WHO antenatal appointments.</a:t>
            </a:r>
          </a:p>
          <a:p>
            <a:pPr>
              <a:spcBef>
                <a:spcPts val="400"/>
              </a:spcBef>
              <a:defRPr sz="1050">
                <a:solidFill>
                  <a:srgbClr val="1E293B"/>
                </a:solidFill>
              </a:defRPr>
            </a:pPr>
            <a:r>
              <a:t>• Interactive tap-to-complete checkmarks with SQLite sync.</a:t>
            </a:r>
          </a:p>
          <a:p>
            <a:pPr>
              <a:spcBef>
                <a:spcPts val="400"/>
              </a:spcBef>
              <a:defRPr sz="1050">
                <a:solidFill>
                  <a:srgbClr val="1E293B"/>
                </a:solidFill>
              </a:defRPr>
            </a:pPr>
            <a:r>
              <a:t>• Strikethrough styling for completed clinical visits.</a:t>
            </a:r>
          </a:p>
        </p:txBody>
      </p:sp>
      <p:sp>
        <p:nvSpPr>
          <p:cNvPr id="11" name="Rounded Rectangle 10"/>
          <p:cNvSpPr/>
          <p:nvPr/>
        </p:nvSpPr>
        <p:spPr>
          <a:xfrm>
            <a:off x="8961120" y="1463040"/>
            <a:ext cx="24688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645920"/>
            <a:ext cx="2194560" cy="4480560"/>
          </a:xfrm>
          <a:prstGeom prst="rect">
            <a:avLst/>
          </a:prstGeom>
          <a:noFill/>
        </p:spPr>
        <p:txBody>
          <a:bodyPr wrap="square" lIns="0" tIns="0" rIns="0" bIns="0">
            <a:spAutoFit/>
          </a:bodyPr>
          <a:lstStyle/>
          <a:p>
            <a:pPr>
              <a:defRPr sz="1300" b="1">
                <a:solidFill>
                  <a:srgbClr val="E11D48"/>
                </a:solidFill>
              </a:defRPr>
            </a:pPr>
            <a:r>
              <a:t>Emergency SOS Widget</a:t>
            </a:r>
          </a:p>
          <a:p>
            <a:pPr>
              <a:spcAft>
                <a:spcPts val="800"/>
              </a:spcAft>
              <a:defRPr sz="850" b="1">
                <a:solidFill>
                  <a:srgbClr val="64748B"/>
                </a:solidFill>
              </a:defRPr>
            </a:pPr>
            <a:r>
              <a:t>LIFE-CRITICAL ACCESSIBILITY</a:t>
            </a:r>
          </a:p>
          <a:p>
            <a:pPr>
              <a:spcBef>
                <a:spcPts val="400"/>
              </a:spcBef>
              <a:defRPr sz="1050">
                <a:solidFill>
                  <a:srgbClr val="1E293B"/>
                </a:solidFill>
              </a:defRPr>
            </a:pPr>
            <a:r>
              <a:t>• Persistent Floating Action Button in high-visibility red.</a:t>
            </a:r>
          </a:p>
          <a:p>
            <a:pPr>
              <a:spcBef>
                <a:spcPts val="400"/>
              </a:spcBef>
              <a:defRPr sz="1050">
                <a:solidFill>
                  <a:srgbClr val="1E293B"/>
                </a:solidFill>
              </a:defRPr>
            </a:pPr>
            <a:r>
              <a:t>• Unmistakable emergency icon &amp; large touch target.</a:t>
            </a:r>
          </a:p>
          <a:p>
            <a:pPr>
              <a:spcBef>
                <a:spcPts val="400"/>
              </a:spcBef>
              <a:defRPr sz="1050">
                <a:solidFill>
                  <a:srgbClr val="1E293B"/>
                </a:solidFill>
              </a:defRPr>
            </a:pPr>
            <a:r>
              <a:t>• Haptic &amp; snackbar feedback upon emergency activation.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QUALITY ASSURANCE &amp; TESTING</a:t>
            </a:r>
          </a:p>
          <a:p>
            <a:pPr>
              <a:defRPr sz="2200" b="1">
                <a:solidFill>
                  <a:srgbClr val="1A202C"/>
                </a:solidFill>
              </a:defRPr>
            </a:pPr>
            <a:r>
              <a:t>Verification &amp; Validation: Automated Unit &amp; Widget Test Suite</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12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663440" cy="4480560"/>
          </a:xfrm>
          <a:prstGeom prst="rect">
            <a:avLst/>
          </a:prstGeom>
          <a:noFill/>
        </p:spPr>
        <p:txBody>
          <a:bodyPr wrap="square" lIns="0" tIns="0" rIns="0" bIns="0">
            <a:spAutoFit/>
          </a:bodyPr>
          <a:lstStyle/>
          <a:p>
            <a:pPr>
              <a:defRPr sz="1500" b="1">
                <a:solidFill>
                  <a:srgbClr val="1A202C"/>
                </a:solidFill>
              </a:defRPr>
            </a:pPr>
            <a:r>
              <a:t>Unit Testing (`widget_test.dart`)</a:t>
            </a:r>
          </a:p>
          <a:p>
            <a:pPr>
              <a:defRPr sz="900" b="1">
                <a:solidFill>
                  <a:srgbClr val="E11D48"/>
                </a:solidFill>
              </a:defRPr>
            </a:pPr>
            <a:r>
              <a:t>AUTOMATED LOGIC VERIFICATION</a:t>
            </a:r>
          </a:p>
          <a:p>
            <a:pPr>
              <a:spcBef>
                <a:spcPts val="600"/>
              </a:spcBef>
              <a:defRPr sz="1200">
                <a:solidFill>
                  <a:srgbClr val="1E293B"/>
                </a:solidFill>
              </a:defRPr>
            </a:pPr>
            <a:r>
              <a:t>•  GestationalCalculator Test Group:</a:t>
            </a:r>
          </a:p>
          <a:p>
            <a:pPr>
              <a:spcBef>
                <a:spcPts val="600"/>
              </a:spcBef>
              <a:defRPr sz="1200">
                <a:solidFill>
                  <a:srgbClr val="1E293B"/>
                </a:solidFill>
              </a:defRPr>
            </a:pPr>
            <a:r>
              <a:t>•    • Test 1: Verified calculateEDD accurately predicts delivery date via Naegele's rule (Jan 1 LMP -&gt; Oct 10 EDD).</a:t>
            </a:r>
          </a:p>
          <a:p>
            <a:pPr>
              <a:spcBef>
                <a:spcPts val="600"/>
              </a:spcBef>
              <a:defRPr sz="1200">
                <a:solidFill>
                  <a:srgbClr val="1E293B"/>
                </a:solidFill>
              </a:defRPr>
            </a:pPr>
            <a:r>
              <a:t>•    • Test 2: Bounds checking verified week clamps to 1 for future dates and 40 for distant dates.</a:t>
            </a:r>
          </a:p>
          <a:p>
            <a:pPr>
              <a:spcBef>
                <a:spcPts val="600"/>
              </a:spcBef>
              <a:defRPr sz="1200">
                <a:solidFill>
                  <a:srgbClr val="1E293B"/>
                </a:solidFill>
              </a:defRPr>
            </a:pPr>
            <a:r>
              <a:t>•    • Test 3: Verified generateWHOSchedule produces exactly 8 records, starting at Week 12 and concluding at Week 40.</a:t>
            </a:r>
          </a:p>
          <a:p>
            <a:pPr>
              <a:spcBef>
                <a:spcPts val="600"/>
              </a:spcBef>
              <a:defRPr sz="1200">
                <a:solidFill>
                  <a:srgbClr val="1E293B"/>
                </a:solidFill>
              </a:defRPr>
            </a:pPr>
            <a:r>
              <a:t>•  SymptomLog Model Test Group:</a:t>
            </a:r>
          </a:p>
          <a:p>
            <a:pPr>
              <a:spcBef>
                <a:spcPts val="600"/>
              </a:spcBef>
              <a:defRPr sz="1200">
                <a:solidFill>
                  <a:srgbClr val="1E293B"/>
                </a:solidFill>
              </a:defRPr>
            </a:pPr>
            <a:r>
              <a:t>•    • Test 4: Serialization test verifies toMap() correctly maps object fields to database column names.</a:t>
            </a:r>
          </a:p>
          <a:p>
            <a:pPr>
              <a:spcBef>
                <a:spcPts val="600"/>
              </a:spcBef>
              <a:defRPr sz="1200">
                <a:solidFill>
                  <a:srgbClr val="1E293B"/>
                </a:solidFill>
              </a:defRPr>
            </a:pPr>
            <a:r>
              <a:t>•    • Test 5: Deserialization test verifies fromMap() reconstructs domain objects with byte-for-byte fidelity.</a:t>
            </a:r>
          </a:p>
          <a:p>
            <a:pPr>
              <a:spcBef>
                <a:spcPts val="600"/>
              </a:spcBef>
              <a:defRPr sz="1200">
                <a:solidFill>
                  <a:srgbClr val="1E293B"/>
                </a:solidFill>
              </a:defRPr>
            </a:pPr>
            <a:r>
              <a:t>•  PdfExporter Test Group:</a:t>
            </a:r>
          </a:p>
          <a:p>
            <a:pPr>
              <a:spcBef>
                <a:spcPts val="600"/>
              </a:spcBef>
              <a:defRPr sz="1200">
                <a:solidFill>
                  <a:srgbClr val="1E293B"/>
                </a:solidFill>
              </a:defRPr>
            </a:pPr>
            <a:r>
              <a:t>•    • Test 6: Compiles multi-page PDF buffer and verifies byte array is non-empty without layout overflow exceptions.</a:t>
            </a:r>
          </a:p>
          <a:p>
            <a:pPr>
              <a:spcBef>
                <a:spcPts val="600"/>
              </a:spcBef>
              <a:defRPr sz="1200">
                <a:solidFill>
                  <a:srgbClr val="1E293B"/>
                </a:solidFill>
              </a:defRPr>
            </a:pPr>
            <a:r>
              <a:t>•    • Test 7: Verified empty symptom history gracefully generates valid PDF document.</a:t>
            </a:r>
          </a:p>
        </p:txBody>
      </p:sp>
      <p:sp>
        <p:nvSpPr>
          <p:cNvPr id="7" name="Rounded Rectangle 6"/>
          <p:cNvSpPr/>
          <p:nvPr/>
        </p:nvSpPr>
        <p:spPr>
          <a:xfrm>
            <a:off x="6309360" y="1463040"/>
            <a:ext cx="51206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645920"/>
            <a:ext cx="4663440" cy="4480560"/>
          </a:xfrm>
          <a:prstGeom prst="rect">
            <a:avLst/>
          </a:prstGeom>
          <a:noFill/>
        </p:spPr>
        <p:txBody>
          <a:bodyPr wrap="square" lIns="0" tIns="0" rIns="0" bIns="0">
            <a:spAutoFit/>
          </a:bodyPr>
          <a:lstStyle/>
          <a:p>
            <a:pPr>
              <a:defRPr sz="1500" b="1">
                <a:solidFill>
                  <a:srgbClr val="1A202C"/>
                </a:solidFill>
              </a:defRPr>
            </a:pPr>
            <a:r>
              <a:t>Widget Smoke &amp; Integration Testing</a:t>
            </a:r>
          </a:p>
          <a:p>
            <a:pPr>
              <a:defRPr sz="900" b="1">
                <a:solidFill>
                  <a:srgbClr val="E11D48"/>
                </a:solidFill>
              </a:defRPr>
            </a:pPr>
            <a:r>
              <a:t>UI &amp; LIFECYCLE VALIDATION</a:t>
            </a:r>
          </a:p>
          <a:p>
            <a:pPr>
              <a:spcBef>
                <a:spcPts val="600"/>
              </a:spcBef>
              <a:defRPr sz="1200">
                <a:solidFill>
                  <a:srgbClr val="1E293B"/>
                </a:solidFill>
              </a:defRPr>
            </a:pPr>
            <a:r>
              <a:t>•  Flutter WidgetTester Framework:</a:t>
            </a:r>
          </a:p>
          <a:p>
            <a:pPr>
              <a:spcBef>
                <a:spcPts val="600"/>
              </a:spcBef>
              <a:defRPr sz="1200">
                <a:solidFill>
                  <a:srgbClr val="1E293B"/>
                </a:solidFill>
              </a:defRPr>
            </a:pPr>
            <a:r>
              <a:t>•    • Smoke Test: Mounts SafeMomsApp(hasProfile: false) in virtual headless test harness.</a:t>
            </a:r>
          </a:p>
          <a:p>
            <a:pPr>
              <a:spcBef>
                <a:spcPts val="600"/>
              </a:spcBef>
              <a:defRPr sz="1200">
                <a:solidFill>
                  <a:srgbClr val="1E293B"/>
                </a:solidFill>
              </a:defRPr>
            </a:pPr>
            <a:r>
              <a:t>•    • Pump &amp; Settle: Waits for scheduled microtasks and animation frames to complete.</a:t>
            </a:r>
          </a:p>
          <a:p>
            <a:pPr>
              <a:spcBef>
                <a:spcPts val="600"/>
              </a:spcBef>
              <a:defRPr sz="1200">
                <a:solidFill>
                  <a:srgbClr val="1E293B"/>
                </a:solidFill>
              </a:defRPr>
            </a:pPr>
            <a:r>
              <a:t>•    • Assertion 1: Verified 'Welcome to SafeMoms' title widget renders accurately.</a:t>
            </a:r>
          </a:p>
          <a:p>
            <a:pPr>
              <a:spcBef>
                <a:spcPts val="600"/>
              </a:spcBef>
              <a:defRPr sz="1200">
                <a:solidFill>
                  <a:srgbClr val="1E293B"/>
                </a:solidFill>
              </a:defRPr>
            </a:pPr>
            <a:r>
              <a:t>•    • Assertion 2: Verified profile input fields ('Your Full Name') mount into the widget tree.</a:t>
            </a:r>
          </a:p>
          <a:p>
            <a:pPr>
              <a:spcBef>
                <a:spcPts val="600"/>
              </a:spcBef>
              <a:defRPr sz="1200">
                <a:solidFill>
                  <a:srgbClr val="1E293B"/>
                </a:solidFill>
              </a:defRPr>
            </a:pPr>
            <a:r>
              <a:t>•    • Assertion 3: Verified 'Generate My Calendar' submission button is present and clickable.</a:t>
            </a:r>
          </a:p>
          <a:p>
            <a:pPr>
              <a:spcBef>
                <a:spcPts val="600"/>
              </a:spcBef>
              <a:defRPr sz="1200">
                <a:solidFill>
                  <a:srgbClr val="1E293B"/>
                </a:solidFill>
              </a:defRPr>
            </a:pPr>
            <a:r>
              <a:t>•  Reliability Benchmarks:</a:t>
            </a:r>
          </a:p>
          <a:p>
            <a:pPr>
              <a:spcBef>
                <a:spcPts val="600"/>
              </a:spcBef>
              <a:defRPr sz="1200">
                <a:solidFill>
                  <a:srgbClr val="1E293B"/>
                </a:solidFill>
              </a:defRPr>
            </a:pPr>
            <a:r>
              <a:t>•    • SQLite FFI Integration: Automated database initialization verified on Desktop platforms.</a:t>
            </a:r>
          </a:p>
          <a:p>
            <a:pPr>
              <a:spcBef>
                <a:spcPts val="600"/>
              </a:spcBef>
              <a:defRPr sz="1200">
                <a:solidFill>
                  <a:srgbClr val="1E293B"/>
                </a:solidFill>
              </a:defRPr>
            </a:pPr>
            <a:r>
              <a:t>•    • Zero Runtime Regression: 100% passing test suite across all defined test groups.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PROJECT MANAGEMENT</a:t>
            </a:r>
          </a:p>
          <a:p>
            <a:pPr>
              <a:defRPr sz="2200" b="1">
                <a:solidFill>
                  <a:srgbClr val="1A202C"/>
                </a:solidFill>
              </a:defRPr>
            </a:pPr>
            <a:r>
              <a:t>Team Collaboration: Module Allocation &amp; Version Control</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13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728655" cy="804672"/>
          </a:xfrm>
          <a:prstGeom prst="roundRect">
            <a:avLst/>
          </a:prstGeom>
          <a:solidFill>
            <a:srgbClr val="F8FAFC"/>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10241280" cy="621792"/>
          </a:xfrm>
          <a:prstGeom prst="rect">
            <a:avLst/>
          </a:prstGeom>
          <a:noFill/>
        </p:spPr>
        <p:txBody>
          <a:bodyPr wrap="square" lIns="0" tIns="0" rIns="0" bIns="0">
            <a:spAutoFit/>
          </a:bodyPr>
          <a:lstStyle/>
          <a:p>
            <a:pPr>
              <a:defRPr sz="1200" b="1">
                <a:solidFill>
                  <a:srgbClr val="E11D48"/>
                </a:solidFill>
              </a:defRPr>
            </a:pPr>
            <a:r>
              <a:t>Member 1: Team Lead &amp; Requirements</a:t>
            </a:r>
          </a:p>
          <a:p>
            <a:pPr>
              <a:spcBef>
                <a:spcPts val="200"/>
              </a:spcBef>
              <a:defRPr sz="1050">
                <a:solidFill>
                  <a:srgbClr val="1E293B"/>
                </a:solidFill>
              </a:defRPr>
            </a:pPr>
            <a:r>
              <a:t>Authored SRS &amp; SDD documentation; managed task allocation, integration sprints, and system requirements matrix.</a:t>
            </a:r>
          </a:p>
        </p:txBody>
      </p:sp>
      <p:sp>
        <p:nvSpPr>
          <p:cNvPr id="7" name="Rounded Rectangle 6"/>
          <p:cNvSpPr/>
          <p:nvPr/>
        </p:nvSpPr>
        <p:spPr>
          <a:xfrm>
            <a:off x="731520" y="2395728"/>
            <a:ext cx="10728655"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87168"/>
            <a:ext cx="10241280" cy="621792"/>
          </a:xfrm>
          <a:prstGeom prst="rect">
            <a:avLst/>
          </a:prstGeom>
          <a:noFill/>
        </p:spPr>
        <p:txBody>
          <a:bodyPr wrap="square" lIns="0" tIns="0" rIns="0" bIns="0">
            <a:spAutoFit/>
          </a:bodyPr>
          <a:lstStyle/>
          <a:p>
            <a:pPr>
              <a:defRPr sz="1200" b="1">
                <a:solidFill>
                  <a:srgbClr val="1A202C"/>
                </a:solidFill>
              </a:defRPr>
            </a:pPr>
            <a:r>
              <a:t>Member 2: Gestational Engine &amp; Logic</a:t>
            </a:r>
          </a:p>
          <a:p>
            <a:pPr>
              <a:spcBef>
                <a:spcPts val="200"/>
              </a:spcBef>
              <a:defRPr sz="1050">
                <a:solidFill>
                  <a:srgbClr val="1E293B"/>
                </a:solidFill>
              </a:defRPr>
            </a:pPr>
            <a:r>
              <a:t>Implemented GestationalCalculator.dart; programmed Naegele's rule, week clamping, and WHO milestone algorithm.</a:t>
            </a:r>
          </a:p>
        </p:txBody>
      </p:sp>
      <p:sp>
        <p:nvSpPr>
          <p:cNvPr id="9" name="Rounded Rectangle 8"/>
          <p:cNvSpPr/>
          <p:nvPr/>
        </p:nvSpPr>
        <p:spPr>
          <a:xfrm>
            <a:off x="731520" y="3328416"/>
            <a:ext cx="10728655"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419856"/>
            <a:ext cx="10241280" cy="621792"/>
          </a:xfrm>
          <a:prstGeom prst="rect">
            <a:avLst/>
          </a:prstGeom>
          <a:noFill/>
        </p:spPr>
        <p:txBody>
          <a:bodyPr wrap="square" lIns="0" tIns="0" rIns="0" bIns="0">
            <a:spAutoFit/>
          </a:bodyPr>
          <a:lstStyle/>
          <a:p>
            <a:pPr>
              <a:defRPr sz="1200" b="1">
                <a:solidFill>
                  <a:srgbClr val="1A202C"/>
                </a:solidFill>
              </a:defRPr>
            </a:pPr>
            <a:r>
              <a:t>Member 3: UI/UX &amp; Presentation Layer</a:t>
            </a:r>
          </a:p>
          <a:p>
            <a:pPr>
              <a:spcBef>
                <a:spcPts val="200"/>
              </a:spcBef>
              <a:defRPr sz="1050">
                <a:solidFill>
                  <a:srgbClr val="1E293B"/>
                </a:solidFill>
              </a:defRPr>
            </a:pPr>
            <a:r>
              <a:t>Engineered reactive Flutter screens (DashboardScreen, OnboardingScreen, AppointmentsScreen) and Material 3 theme.</a:t>
            </a:r>
          </a:p>
        </p:txBody>
      </p:sp>
      <p:sp>
        <p:nvSpPr>
          <p:cNvPr id="11" name="Rounded Rectangle 10"/>
          <p:cNvSpPr/>
          <p:nvPr/>
        </p:nvSpPr>
        <p:spPr>
          <a:xfrm>
            <a:off x="731520" y="4261104"/>
            <a:ext cx="10728655"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352544"/>
            <a:ext cx="10241280" cy="621792"/>
          </a:xfrm>
          <a:prstGeom prst="rect">
            <a:avLst/>
          </a:prstGeom>
          <a:noFill/>
        </p:spPr>
        <p:txBody>
          <a:bodyPr wrap="square" lIns="0" tIns="0" rIns="0" bIns="0">
            <a:spAutoFit/>
          </a:bodyPr>
          <a:lstStyle/>
          <a:p>
            <a:pPr>
              <a:defRPr sz="1200" b="1">
                <a:solidFill>
                  <a:srgbClr val="1A202C"/>
                </a:solidFill>
              </a:defRPr>
            </a:pPr>
            <a:r>
              <a:t>Member 4: Data Layer &amp; PDF Exporter</a:t>
            </a:r>
          </a:p>
          <a:p>
            <a:pPr>
              <a:spcBef>
                <a:spcPts val="200"/>
              </a:spcBef>
              <a:defRPr sz="1050">
                <a:solidFill>
                  <a:srgbClr val="1E293B"/>
                </a:solidFill>
              </a:defRPr>
            </a:pPr>
            <a:r>
              <a:t>Designed SQLite schema in DatabaseHelper.dart, authored SymptomLog model, and programmed PdfExporter engine.</a:t>
            </a:r>
          </a:p>
        </p:txBody>
      </p:sp>
      <p:sp>
        <p:nvSpPr>
          <p:cNvPr id="13" name="Rounded Rectangle 12"/>
          <p:cNvSpPr/>
          <p:nvPr/>
        </p:nvSpPr>
        <p:spPr>
          <a:xfrm>
            <a:off x="731520" y="5193792"/>
            <a:ext cx="10728655"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285232"/>
            <a:ext cx="10241280" cy="621792"/>
          </a:xfrm>
          <a:prstGeom prst="rect">
            <a:avLst/>
          </a:prstGeom>
          <a:noFill/>
        </p:spPr>
        <p:txBody>
          <a:bodyPr wrap="square" lIns="0" tIns="0" rIns="0" bIns="0">
            <a:spAutoFit/>
          </a:bodyPr>
          <a:lstStyle/>
          <a:p>
            <a:pPr>
              <a:defRPr sz="1200" b="1">
                <a:solidFill>
                  <a:srgbClr val="1A202C"/>
                </a:solidFill>
              </a:defRPr>
            </a:pPr>
            <a:r>
              <a:t>Member 5: Hardware Integration &amp; SOS</a:t>
            </a:r>
          </a:p>
          <a:p>
            <a:pPr>
              <a:spcBef>
                <a:spcPts val="200"/>
              </a:spcBef>
              <a:defRPr sz="1050">
                <a:solidFill>
                  <a:srgbClr val="1E293B"/>
                </a:solidFill>
              </a:defRPr>
            </a:pPr>
            <a:r>
              <a:t>Integrated Geolocator GPS hooks, carrier SMS dispatch in EmergencyController.dart, and hardware fallback handlers.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REFLECTIONS &amp; PROBLEM SOLVING</a:t>
            </a:r>
          </a:p>
          <a:p>
            <a:pPr>
              <a:defRPr sz="2200" b="1">
                <a:solidFill>
                  <a:srgbClr val="1A202C"/>
                </a:solidFill>
              </a:defRPr>
            </a:pPr>
            <a:r>
              <a:t>Engineering Challenges, Technical Trade-Offs &amp; Mitigations</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14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228600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80" cy="2011680"/>
          </a:xfrm>
          <a:prstGeom prst="rect">
            <a:avLst/>
          </a:prstGeom>
          <a:noFill/>
        </p:spPr>
        <p:txBody>
          <a:bodyPr wrap="square" lIns="0" tIns="0" rIns="0" bIns="0">
            <a:spAutoFit/>
          </a:bodyPr>
          <a:lstStyle/>
          <a:p>
            <a:pPr>
              <a:defRPr sz="1300" b="1">
                <a:solidFill>
                  <a:srgbClr val="E11D48"/>
                </a:solidFill>
              </a:defRPr>
            </a:pPr>
            <a:r>
              <a:t>1. Modern Android Permission Constraints</a:t>
            </a:r>
          </a:p>
          <a:p>
            <a:pPr>
              <a:spcBef>
                <a:spcPts val="400"/>
              </a:spcBef>
              <a:defRPr sz="1050">
                <a:solidFill>
                  <a:srgbClr val="1E293B"/>
                </a:solidFill>
              </a:defRPr>
            </a:pPr>
            <a:r>
              <a:t>Challenge: Android 13+ enforces strict runtime permissions for background location access and SMS intent broadcasting.</a:t>
            </a:r>
            <a:br/>
            <a:r>
              <a:t>Mitigation: Implemented progressive permission negotiation in EmergencyController; guided users through explicit permission prompts before hardware activation.</a:t>
            </a:r>
          </a:p>
        </p:txBody>
      </p:sp>
      <p:sp>
        <p:nvSpPr>
          <p:cNvPr id="7" name="Rounded Rectangle 6"/>
          <p:cNvSpPr/>
          <p:nvPr/>
        </p:nvSpPr>
        <p:spPr>
          <a:xfrm>
            <a:off x="6309360" y="1463040"/>
            <a:ext cx="5120640" cy="2286000"/>
          </a:xfrm>
          <a:prstGeom prst="roundRect">
            <a:avLst/>
          </a:prstGeom>
          <a:solidFill>
            <a:srgbClr val="F8FAF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00200"/>
            <a:ext cx="4754880" cy="2011680"/>
          </a:xfrm>
          <a:prstGeom prst="rect">
            <a:avLst/>
          </a:prstGeom>
          <a:noFill/>
        </p:spPr>
        <p:txBody>
          <a:bodyPr wrap="square" lIns="0" tIns="0" rIns="0" bIns="0">
            <a:spAutoFit/>
          </a:bodyPr>
          <a:lstStyle/>
          <a:p>
            <a:pPr>
              <a:defRPr sz="1300" b="1">
                <a:solidFill>
                  <a:srgbClr val="6366F1"/>
                </a:solidFill>
              </a:defRPr>
            </a:pPr>
            <a:r>
              <a:t>2. Cross-Platform SQLite Engine Portability</a:t>
            </a:r>
          </a:p>
          <a:p>
            <a:pPr>
              <a:spcBef>
                <a:spcPts val="400"/>
              </a:spcBef>
              <a:defRPr sz="1050">
                <a:solidFill>
                  <a:srgbClr val="1E293B"/>
                </a:solidFill>
              </a:defRPr>
            </a:pPr>
            <a:r>
              <a:t>Challenge: Mobile uses native C-SQLite bindings, whereas Desktop (Windows/Linux development environments) lacks native sqflite bridges.</a:t>
            </a:r>
            <a:br/>
            <a:r>
              <a:t>Mitigation: Integrated `sqflite_common_ffi` with conditional initialization in main.dart: detects desktop OS and binds dynamically without breaking mobile builds.</a:t>
            </a:r>
          </a:p>
        </p:txBody>
      </p:sp>
      <p:sp>
        <p:nvSpPr>
          <p:cNvPr id="9" name="Rounded Rectangle 8"/>
          <p:cNvSpPr/>
          <p:nvPr/>
        </p:nvSpPr>
        <p:spPr>
          <a:xfrm>
            <a:off x="731520" y="3931920"/>
            <a:ext cx="5120640" cy="228600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4754880" cy="2011680"/>
          </a:xfrm>
          <a:prstGeom prst="rect">
            <a:avLst/>
          </a:prstGeom>
          <a:noFill/>
        </p:spPr>
        <p:txBody>
          <a:bodyPr wrap="square" lIns="0" tIns="0" rIns="0" bIns="0">
            <a:spAutoFit/>
          </a:bodyPr>
          <a:lstStyle/>
          <a:p>
            <a:pPr>
              <a:defRPr sz="1300" b="1">
                <a:solidFill>
                  <a:srgbClr val="0D9488"/>
                </a:solidFill>
              </a:defRPr>
            </a:pPr>
            <a:r>
              <a:t>3. GPS Acquisition Timeouts in Remote Areas</a:t>
            </a:r>
          </a:p>
          <a:p>
            <a:pPr>
              <a:spcBef>
                <a:spcPts val="400"/>
              </a:spcBef>
              <a:defRPr sz="1050">
                <a:solidFill>
                  <a:srgbClr val="1E293B"/>
                </a:solidFill>
              </a:defRPr>
            </a:pPr>
            <a:r>
              <a:t>Challenge: Dense rural tree cover or indoors can cause GPS sensor queries to hang indefinitely, blocking emergency dispatch.</a:t>
            </a:r>
            <a:br/>
            <a:r>
              <a:t>Mitigation: Enforced a strict 10-second LocationSettings timeout with dual fallback: queries getLastKnownPosition(), and if unavailable, dispatches alert anyway.</a:t>
            </a:r>
          </a:p>
        </p:txBody>
      </p:sp>
      <p:sp>
        <p:nvSpPr>
          <p:cNvPr id="11" name="Rounded Rectangle 10"/>
          <p:cNvSpPr/>
          <p:nvPr/>
        </p:nvSpPr>
        <p:spPr>
          <a:xfrm>
            <a:off x="6309360" y="3931920"/>
            <a:ext cx="5120640" cy="2286000"/>
          </a:xfrm>
          <a:prstGeom prst="roundRect">
            <a:avLst/>
          </a:prstGeom>
          <a:solidFill>
            <a:srgbClr val="F8FAF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069080"/>
            <a:ext cx="4754880" cy="2011680"/>
          </a:xfrm>
          <a:prstGeom prst="rect">
            <a:avLst/>
          </a:prstGeom>
          <a:noFill/>
        </p:spPr>
        <p:txBody>
          <a:bodyPr wrap="square" lIns="0" tIns="0" rIns="0" bIns="0">
            <a:spAutoFit/>
          </a:bodyPr>
          <a:lstStyle/>
          <a:p>
            <a:pPr>
              <a:defRPr sz="1300" b="1">
                <a:solidFill>
                  <a:srgbClr val="F59E0B"/>
                </a:solidFill>
              </a:defRPr>
            </a:pPr>
            <a:r>
              <a:t>4. Zero-Data Medical Education Content</a:t>
            </a:r>
          </a:p>
          <a:p>
            <a:pPr>
              <a:spcBef>
                <a:spcPts val="400"/>
              </a:spcBef>
              <a:defRPr sz="1050">
                <a:solidFill>
                  <a:srgbClr val="1E293B"/>
                </a:solidFill>
              </a:defRPr>
            </a:pPr>
            <a:r>
              <a:t>Challenge: Delivering rich maternal health articles without downloading them from a remote cloud web server.</a:t>
            </a:r>
            <a:br/>
            <a:r>
              <a:t>Mitigation: Pre-compiled and seeded a localized, week-by-week maternal health education data matrix directly inside SQLite database initialization.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11D48"/>
                </a:solidFill>
              </a:defRPr>
            </a:pPr>
            <a:r>
              <a:t>PROJECT EVOLUTION</a:t>
            </a:r>
          </a:p>
          <a:p>
            <a:pPr>
              <a:defRPr sz="2200" b="1">
                <a:solidFill>
                  <a:srgbClr val="1A202C"/>
                </a:solidFill>
              </a:defRPr>
            </a:pPr>
            <a:r>
              <a:t>Future Enhancements &amp; Scalability Roadmap</a:t>
            </a:r>
          </a:p>
        </p:txBody>
      </p:sp>
      <p:sp>
        <p:nvSpPr>
          <p:cNvPr id="3" name="TextBox 2"/>
          <p:cNvSpPr txBox="1"/>
          <p:nvPr/>
        </p:nvSpPr>
        <p:spPr>
          <a:xfrm>
            <a:off x="10515600" y="365760"/>
            <a:ext cx="914400" cy="457200"/>
          </a:xfrm>
          <a:prstGeom prst="rect">
            <a:avLst/>
          </a:prstGeom>
          <a:noFill/>
        </p:spPr>
        <p:txBody>
          <a:bodyPr wrap="none">
            <a:spAutoFit/>
          </a:bodyPr>
          <a:lstStyle/>
          <a:p>
            <a:pPr algn="r">
              <a:defRPr sz="1100" b="1">
                <a:solidFill>
                  <a:srgbClr val="64748B"/>
                </a:solidFill>
              </a:defRPr>
            </a:pPr>
            <a:r>
              <a:t>15 / 16</a:t>
            </a:r>
          </a:p>
        </p:txBody>
      </p:sp>
      <p:sp>
        <p:nvSpPr>
          <p:cNvPr id="4" name="Rectangle 3"/>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918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834640" cy="4480560"/>
          </a:xfrm>
          <a:prstGeom prst="rect">
            <a:avLst/>
          </a:prstGeom>
          <a:noFill/>
        </p:spPr>
        <p:txBody>
          <a:bodyPr wrap="square" lIns="0" tIns="0" rIns="0" bIns="0">
            <a:spAutoFit/>
          </a:bodyPr>
          <a:lstStyle/>
          <a:p>
            <a:pPr>
              <a:defRPr sz="1500" b="1">
                <a:solidFill>
                  <a:srgbClr val="1A202C"/>
                </a:solidFill>
              </a:defRPr>
            </a:pPr>
            <a:r>
              <a:t>1. Multi-Lingual Localization</a:t>
            </a:r>
          </a:p>
          <a:p>
            <a:pPr>
              <a:defRPr sz="900" b="1">
                <a:solidFill>
                  <a:srgbClr val="E11D48"/>
                </a:solidFill>
              </a:defRPr>
            </a:pPr>
            <a:r>
              <a:t>LINGUISTIC INCLUSIVITY</a:t>
            </a:r>
          </a:p>
          <a:p>
            <a:pPr>
              <a:spcBef>
                <a:spcPts val="600"/>
              </a:spcBef>
              <a:defRPr sz="1200">
                <a:solidFill>
                  <a:srgbClr val="1E293B"/>
                </a:solidFill>
              </a:defRPr>
            </a:pPr>
            <a:r>
              <a:t>•  Context: Cameroon &amp; Sub-Saharan Africa feature diverse linguistic communities.</a:t>
            </a:r>
          </a:p>
          <a:p>
            <a:pPr>
              <a:spcBef>
                <a:spcPts val="600"/>
              </a:spcBef>
              <a:defRPr sz="1200">
                <a:solidFill>
                  <a:srgbClr val="1E293B"/>
                </a:solidFill>
              </a:defRPr>
            </a:pPr>
            <a:r>
              <a:t>•  Roadmap: Integrate `flutter_localizations` with support for:</a:t>
            </a:r>
          </a:p>
          <a:p>
            <a:pPr>
              <a:spcBef>
                <a:spcPts val="600"/>
              </a:spcBef>
              <a:defRPr sz="1200">
                <a:solidFill>
                  <a:srgbClr val="1E293B"/>
                </a:solidFill>
              </a:defRPr>
            </a:pPr>
            <a:r>
              <a:t>•    • French (Official)</a:t>
            </a:r>
          </a:p>
          <a:p>
            <a:pPr>
              <a:spcBef>
                <a:spcPts val="600"/>
              </a:spcBef>
              <a:defRPr sz="1200">
                <a:solidFill>
                  <a:srgbClr val="1E293B"/>
                </a:solidFill>
              </a:defRPr>
            </a:pPr>
            <a:r>
              <a:t>•    • English (Official)</a:t>
            </a:r>
          </a:p>
          <a:p>
            <a:pPr>
              <a:spcBef>
                <a:spcPts val="600"/>
              </a:spcBef>
              <a:defRPr sz="1200">
                <a:solidFill>
                  <a:srgbClr val="1E293B"/>
                </a:solidFill>
              </a:defRPr>
            </a:pPr>
            <a:r>
              <a:t>•    • Pidgin English</a:t>
            </a:r>
          </a:p>
          <a:p>
            <a:pPr>
              <a:spcBef>
                <a:spcPts val="600"/>
              </a:spcBef>
              <a:defRPr sz="1200">
                <a:solidFill>
                  <a:srgbClr val="1E293B"/>
                </a:solidFill>
              </a:defRPr>
            </a:pPr>
            <a:r>
              <a:t>•    • Local dialect audio guides for illiterate mothers.</a:t>
            </a:r>
          </a:p>
        </p:txBody>
      </p:sp>
      <p:sp>
        <p:nvSpPr>
          <p:cNvPr id="7" name="Rounded Rectangle 6"/>
          <p:cNvSpPr/>
          <p:nvPr/>
        </p:nvSpPr>
        <p:spPr>
          <a:xfrm>
            <a:off x="4389120" y="1463040"/>
            <a:ext cx="329184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45920"/>
            <a:ext cx="2834640" cy="4480560"/>
          </a:xfrm>
          <a:prstGeom prst="rect">
            <a:avLst/>
          </a:prstGeom>
          <a:noFill/>
        </p:spPr>
        <p:txBody>
          <a:bodyPr wrap="square" lIns="0" tIns="0" rIns="0" bIns="0">
            <a:spAutoFit/>
          </a:bodyPr>
          <a:lstStyle/>
          <a:p>
            <a:pPr>
              <a:defRPr sz="1500" b="1">
                <a:solidFill>
                  <a:srgbClr val="1A202C"/>
                </a:solidFill>
              </a:defRPr>
            </a:pPr>
            <a:r>
              <a:t>2. Bluetooth Clinic Sync</a:t>
            </a:r>
          </a:p>
          <a:p>
            <a:pPr>
              <a:defRPr sz="900" b="1">
                <a:solidFill>
                  <a:srgbClr val="E11D48"/>
                </a:solidFill>
              </a:defRPr>
            </a:pPr>
            <a:r>
              <a:t>ZERO-DATA INTEROPERABILITY</a:t>
            </a:r>
          </a:p>
          <a:p>
            <a:pPr>
              <a:spcBef>
                <a:spcPts val="600"/>
              </a:spcBef>
              <a:defRPr sz="1200">
                <a:solidFill>
                  <a:srgbClr val="1E293B"/>
                </a:solidFill>
              </a:defRPr>
            </a:pPr>
            <a:r>
              <a:t>•  Context: Rural clinics need batch records without connecting to internet.</a:t>
            </a:r>
          </a:p>
          <a:p>
            <a:pPr>
              <a:spcBef>
                <a:spcPts val="600"/>
              </a:spcBef>
              <a:defRPr sz="1200">
                <a:solidFill>
                  <a:srgbClr val="1E293B"/>
                </a:solidFill>
              </a:defRPr>
            </a:pPr>
            <a:r>
              <a:t>•  Roadmap: Implement peer-to-peer Bluetooth Low Energy (BLE) sync:</a:t>
            </a:r>
          </a:p>
          <a:p>
            <a:pPr>
              <a:spcBef>
                <a:spcPts val="600"/>
              </a:spcBef>
              <a:defRPr sz="1200">
                <a:solidFill>
                  <a:srgbClr val="1E293B"/>
                </a:solidFill>
              </a:defRPr>
            </a:pPr>
            <a:r>
              <a:t>•    • Mother taps 'Sync' at clinic gate.</a:t>
            </a:r>
          </a:p>
          <a:p>
            <a:pPr>
              <a:spcBef>
                <a:spcPts val="600"/>
              </a:spcBef>
              <a:defRPr sz="1200">
                <a:solidFill>
                  <a:srgbClr val="1E293B"/>
                </a:solidFill>
              </a:defRPr>
            </a:pPr>
            <a:r>
              <a:t>•    • Local database pushes new vitals to nurse's Android tablet instantly.</a:t>
            </a:r>
          </a:p>
          <a:p>
            <a:pPr>
              <a:spcBef>
                <a:spcPts val="600"/>
              </a:spcBef>
              <a:defRPr sz="1200">
                <a:solidFill>
                  <a:srgbClr val="1E293B"/>
                </a:solidFill>
              </a:defRPr>
            </a:pPr>
            <a:r>
              <a:t>•    • Zero cloud data fees incurred.</a:t>
            </a:r>
          </a:p>
        </p:txBody>
      </p:sp>
      <p:sp>
        <p:nvSpPr>
          <p:cNvPr id="9" name="Rounded Rectangle 8"/>
          <p:cNvSpPr/>
          <p:nvPr/>
        </p:nvSpPr>
        <p:spPr>
          <a:xfrm>
            <a:off x="8046720" y="1463040"/>
            <a:ext cx="33832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45920"/>
            <a:ext cx="2926080" cy="4480560"/>
          </a:xfrm>
          <a:prstGeom prst="rect">
            <a:avLst/>
          </a:prstGeom>
          <a:noFill/>
        </p:spPr>
        <p:txBody>
          <a:bodyPr wrap="square" lIns="0" tIns="0" rIns="0" bIns="0">
            <a:spAutoFit/>
          </a:bodyPr>
          <a:lstStyle/>
          <a:p>
            <a:pPr>
              <a:defRPr sz="1500" b="1">
                <a:solidFill>
                  <a:srgbClr val="1A202C"/>
                </a:solidFill>
              </a:defRPr>
            </a:pPr>
            <a:r>
              <a:t>3. On-Device AI Triage</a:t>
            </a:r>
          </a:p>
          <a:p>
            <a:pPr>
              <a:defRPr sz="900" b="1">
                <a:solidFill>
                  <a:srgbClr val="E11D48"/>
                </a:solidFill>
              </a:defRPr>
            </a:pPr>
            <a:r>
              <a:t>INTELLIGENT EDGE TRIAGE</a:t>
            </a:r>
          </a:p>
          <a:p>
            <a:pPr>
              <a:spcBef>
                <a:spcPts val="600"/>
              </a:spcBef>
              <a:defRPr sz="1200">
                <a:solidFill>
                  <a:srgbClr val="1E293B"/>
                </a:solidFill>
              </a:defRPr>
            </a:pPr>
            <a:r>
              <a:t>•  Context: Early detection of preeclampsia and gestational diabetes.</a:t>
            </a:r>
          </a:p>
          <a:p>
            <a:pPr>
              <a:spcBef>
                <a:spcPts val="600"/>
              </a:spcBef>
              <a:defRPr sz="1200">
                <a:solidFill>
                  <a:srgbClr val="1E293B"/>
                </a:solidFill>
              </a:defRPr>
            </a:pPr>
            <a:r>
              <a:t>•  Roadmap: Deploy on-device TensorFlow Lite / ONNX model:</a:t>
            </a:r>
          </a:p>
          <a:p>
            <a:pPr>
              <a:spcBef>
                <a:spcPts val="600"/>
              </a:spcBef>
              <a:defRPr sz="1200">
                <a:solidFill>
                  <a:srgbClr val="1E293B"/>
                </a:solidFill>
              </a:defRPr>
            </a:pPr>
            <a:r>
              <a:t>•    • Runs localized pattern analysis on blood pressure history.</a:t>
            </a:r>
          </a:p>
          <a:p>
            <a:pPr>
              <a:spcBef>
                <a:spcPts val="600"/>
              </a:spcBef>
              <a:defRPr sz="1200">
                <a:solidFill>
                  <a:srgbClr val="1E293B"/>
                </a:solidFill>
              </a:defRPr>
            </a:pPr>
            <a:r>
              <a:t>•    • Flags abnormal systolic surges (BP &gt; 140/90).</a:t>
            </a:r>
          </a:p>
          <a:p>
            <a:pPr>
              <a:spcBef>
                <a:spcPts val="600"/>
              </a:spcBef>
              <a:defRPr sz="1200">
                <a:solidFill>
                  <a:srgbClr val="1E293B"/>
                </a:solidFill>
              </a:defRPr>
            </a:pPr>
            <a:r>
              <a:t>•    • Recommends immediate unscheduled clinic checkup.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463040"/>
          </a:xfrm>
          <a:prstGeom prst="rect">
            <a:avLst/>
          </a:prstGeom>
          <a:noFill/>
        </p:spPr>
        <p:txBody>
          <a:bodyPr wrap="square">
            <a:spAutoFit/>
          </a:bodyPr>
          <a:lstStyle/>
          <a:p>
            <a:pPr>
              <a:spcAft>
                <a:spcPts val="600"/>
              </a:spcAft>
              <a:defRPr sz="1300" b="1">
                <a:solidFill>
                  <a:srgbClr val="E11D48"/>
                </a:solidFill>
              </a:defRPr>
            </a:pPr>
            <a:r>
              <a:t>CONCLUSION &amp; TECHNICAL DEFENSE</a:t>
            </a:r>
          </a:p>
          <a:p>
            <a:pPr>
              <a:defRPr sz="2800" b="1">
                <a:solidFill>
                  <a:srgbClr val="FFFFFF"/>
                </a:solidFill>
              </a:defRPr>
            </a:pPr>
            <a:r>
              <a:t>SafeMoms: Engineering Software That Saves Lives</a:t>
            </a:r>
          </a:p>
        </p:txBody>
      </p:sp>
      <p:sp>
        <p:nvSpPr>
          <p:cNvPr id="4" name="Rounded Rectangle 3"/>
          <p:cNvSpPr/>
          <p:nvPr/>
        </p:nvSpPr>
        <p:spPr>
          <a:xfrm>
            <a:off x="914400" y="2286000"/>
            <a:ext cx="4937760" cy="3931920"/>
          </a:xfrm>
          <a:prstGeom prst="roundRect">
            <a:avLst/>
          </a:prstGeom>
          <a:solidFill>
            <a:srgbClr val="273043"/>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468880"/>
            <a:ext cx="4480560" cy="3566160"/>
          </a:xfrm>
          <a:prstGeom prst="rect">
            <a:avLst/>
          </a:prstGeom>
          <a:noFill/>
        </p:spPr>
        <p:txBody>
          <a:bodyPr wrap="square">
            <a:spAutoFit/>
          </a:bodyPr>
          <a:lstStyle/>
          <a:p>
            <a:pPr>
              <a:defRPr sz="1100" b="1">
                <a:solidFill>
                  <a:srgbClr val="E11D48"/>
                </a:solidFill>
              </a:defRPr>
            </a:pPr>
            <a:r>
              <a:t>SUMMARY OF KEY ENGINEERING OUTCOMES</a:t>
            </a:r>
          </a:p>
          <a:p>
            <a:pPr>
              <a:spcBef>
                <a:spcPts val="600"/>
              </a:spcBef>
              <a:defRPr sz="1100">
                <a:solidFill>
                  <a:srgbClr val="E2E8F0"/>
                </a:solidFill>
              </a:defRPr>
            </a:pPr>
            <a:r>
              <a:t>•  Rigorous SE Lifecycle: Successfully progressed from IEEE SRS specifications, to SDD MVC architecture, to production-quality implementation.</a:t>
            </a:r>
          </a:p>
          <a:p>
            <a:pPr>
              <a:spcBef>
                <a:spcPts val="600"/>
              </a:spcBef>
              <a:defRPr sz="1100">
                <a:solidFill>
                  <a:srgbClr val="E2E8F0"/>
                </a:solidFill>
              </a:defRPr>
            </a:pPr>
            <a:r>
              <a:t>•  Zero-Cloud Resilience: Solved real infrastructure constraints by engineering a completely local SQLite architecture.</a:t>
            </a:r>
          </a:p>
          <a:p>
            <a:pPr>
              <a:spcBef>
                <a:spcPts val="600"/>
              </a:spcBef>
              <a:defRPr sz="1100">
                <a:solidFill>
                  <a:srgbClr val="E2E8F0"/>
                </a:solidFill>
              </a:defRPr>
            </a:pPr>
            <a:r>
              <a:t>•  Clinical &amp; Algorithmic Rigor: Faithfully implemented Naegele's rule, WHO 8-contact protocol, and medical-grade PDF generation.</a:t>
            </a:r>
          </a:p>
          <a:p>
            <a:pPr>
              <a:spcBef>
                <a:spcPts val="600"/>
              </a:spcBef>
              <a:defRPr sz="1100">
                <a:solidFill>
                  <a:srgbClr val="E2E8F0"/>
                </a:solidFill>
              </a:defRPr>
            </a:pPr>
            <a:r>
              <a:t>•  Comprehensive Quality Assurance: Built and executed automated unit and widget smoke tests ensuring zero defects.</a:t>
            </a:r>
          </a:p>
        </p:txBody>
      </p:sp>
      <p:sp>
        <p:nvSpPr>
          <p:cNvPr id="6" name="Rounded Rectangle 5"/>
          <p:cNvSpPr/>
          <p:nvPr/>
        </p:nvSpPr>
        <p:spPr>
          <a:xfrm>
            <a:off x="6217920" y="2286000"/>
            <a:ext cx="5029200" cy="3931920"/>
          </a:xfrm>
          <a:prstGeom prst="roundRect">
            <a:avLst/>
          </a:prstGeom>
          <a:solidFill>
            <a:srgbClr val="273043"/>
          </a:solidFill>
          <a:ln>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468880"/>
            <a:ext cx="4572000" cy="3566160"/>
          </a:xfrm>
          <a:prstGeom prst="rect">
            <a:avLst/>
          </a:prstGeom>
          <a:noFill/>
        </p:spPr>
        <p:txBody>
          <a:bodyPr wrap="square">
            <a:spAutoFit/>
          </a:bodyPr>
          <a:lstStyle/>
          <a:p>
            <a:pPr>
              <a:defRPr sz="1100" b="1">
                <a:solidFill>
                  <a:srgbClr val="6366F1"/>
                </a:solidFill>
              </a:defRPr>
            </a:pPr>
            <a:r>
              <a:t>EXAM DEFENSE READY — ANTICIPATED QUESTIONS</a:t>
            </a:r>
          </a:p>
          <a:p>
            <a:pPr>
              <a:spcBef>
                <a:spcPts val="400"/>
              </a:spcBef>
              <a:defRPr sz="1050" b="1">
                <a:solidFill>
                  <a:srgbClr val="F1F5F9"/>
                </a:solidFill>
              </a:defRPr>
            </a:pPr>
            <a:r>
              <a:t>Q1: Why SQLite instead of Firebase / Cloud?</a:t>
            </a:r>
          </a:p>
          <a:p>
            <a:pPr>
              <a:spcBef>
                <a:spcPts val="400"/>
              </a:spcBef>
              <a:defRPr sz="1050" b="0">
                <a:solidFill>
                  <a:srgbClr val="94A3B8"/>
                </a:solidFill>
              </a:defRPr>
            </a:pPr>
            <a:r>
              <a:t>Ans: Target environment suffers from expensive data and zero connectivity. SQLite guarantees 100% offline uptime and absolute privacy.</a:t>
            </a:r>
          </a:p>
          <a:p>
            <a:pPr>
              <a:spcBef>
                <a:spcPts val="400"/>
              </a:spcBef>
              <a:defRPr sz="1050" b="1">
                <a:solidFill>
                  <a:srgbClr val="F1F5F9"/>
                </a:solidFill>
              </a:defRPr>
            </a:pPr>
            <a:r>
              <a:t>Q2: How does the SOS system behave without GPS?</a:t>
            </a:r>
          </a:p>
          <a:p>
            <a:pPr>
              <a:spcBef>
                <a:spcPts val="400"/>
              </a:spcBef>
              <a:defRPr sz="1050" b="0">
                <a:solidFill>
                  <a:srgbClr val="94A3B8"/>
                </a:solidFill>
              </a:defRPr>
            </a:pPr>
            <a:r>
              <a:t>Ans: Uses a 10s timeout fallback to last-known cached coordinates, then transmits distress SMS immediately.</a:t>
            </a:r>
          </a:p>
          <a:p>
            <a:pPr>
              <a:spcBef>
                <a:spcPts val="400"/>
              </a:spcBef>
              <a:defRPr sz="1050" b="1">
                <a:solidFill>
                  <a:srgbClr val="F1F5F9"/>
                </a:solidFill>
              </a:defRPr>
            </a:pPr>
            <a:r>
              <a:t>Q3: How are WHO milestones calculated?</a:t>
            </a:r>
          </a:p>
          <a:p>
            <a:pPr>
              <a:spcBef>
                <a:spcPts val="400"/>
              </a:spcBef>
              <a:defRPr sz="1050" b="0">
                <a:solidFill>
                  <a:srgbClr val="94A3B8"/>
                </a:solidFill>
              </a:defRPr>
            </a:pPr>
            <a:r>
              <a:t>Ans: Dynamic date arithmetic: converts LMP to DateTime, adds target gestational days (week * 7), formats to YYYY-MM-DD.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